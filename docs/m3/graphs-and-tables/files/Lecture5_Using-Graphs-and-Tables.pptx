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minutes, immediately before lunch. Energy will be low and people will be hungry. Keep it fast and visual. Do not lecture - show charts and ask questions.</a:t>
            </a:r>
          </a:p>
          <a:p/>
          <a:p>
            <a:r>
              <a:t>This lecture sets up the 90-minute group work after lunch, so your real goal is to give them the two checklists (table anatomy, chart choice) they will use at 13:30.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this. It gets a nod of recognition from anyone who has ever reviewed a paper.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single test eliminates most bad figures before they are drawn. Ask two or three participants to try it out loud on their own main result. It is usually harder than they expect, which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fast. They have this on Factsheet 5. Point at items 2, 6 and 7 - those are the three that reviewers actually complain about.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'What is wrong with this?' Collect answers. They will get the decimals immediately.</a:t>
            </a:r>
          </a:p>
          <a:p/>
          <a:p>
            <a:r>
              <a:t>Push them for the harder ones: no title. No denominator stated. And where are the 8 patients still on treatment? They have silently vanished - 180 registered, but only 172 accounted for here. Wait - the total says 180. So which is it? Nobody can tell. That is the failure.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2. Treatment outcomes among patients registered for TB treatment in eight municipalities, Timor-Leste, 2024 (N = 180).</a:t>
            </a:r>
          </a:p>
          <a:p/>
          <a:p>
            <a:r>
              <a:t>Footnote: percentages are of all 180 registered. Treatment success using the WHO evaluated cohort (excluding 12 not evaluated and 8 still on treatment) was 126/160 (78.8%).</a:t>
            </a:r>
          </a:p>
          <a:p/>
          <a:p>
            <a:r>
              <a:t>THE POINT: every one of the 180 patients is accounted for. Both denominators are given. Nothing is hidden. A reader can rebuild this table themselves.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Factsheet 6 has this with the 'why' column. Do not read it aloud. Move straight to the charts - showing beats telling 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question. Wait. Everybody says Dili - it has by far the tallest bar, 57 cases.</a:t>
            </a:r>
          </a:p>
          <a:p/>
          <a:p>
            <a:r>
              <a:t>Then show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Dili drops to SIXTH out of eight. Manatuto - one of the shortest bars on the previous slide, just 16 cases - has the highest rate in the country.</a:t>
            </a:r>
          </a:p>
          <a:p/>
          <a:p>
            <a:r>
              <a:t>'If you had sent extra resources based on the first chart, you would have sent them to the wrong district.'</a:t>
            </a:r>
          </a:p>
          <a:p/>
          <a:p>
            <a:r>
              <a:t>RULE: when you compare places, plot rates, not counts. Always state your population source.</a:t>
            </a:r>
          </a:p>
          <a:p/>
          <a:p>
            <a:r>
              <a:t>This comes back as Chart Doctor Patient 3 and as the final question in tomorrow's quiz.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through the left column fast - they will meet all four in the gallery walk.</a:t>
            </a:r>
          </a:p>
          <a:p/>
          <a:p>
            <a:r>
              <a:t>The right column is the checklist they must run on their own charts this afternoon. Tell them explicitly: 'I will be walking round at 13:30 asking you these five questions about your chart.'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A4_Chart-Doctor_FACILITATOR.</a:t>
            </a:r>
          </a:p>
          <a:p/>
          <a:p>
            <a:r>
              <a:t>Set this up during lunch so the posters are already on the walls when they come back in - it changes the mood of the room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Then release them for lunch, on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331720"/>
            <a:ext cx="1371600" cy="635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515600" cy="457200"/>
          </a:xfrm>
          <a:prstGeom prst="rect">
            <a:avLst/>
          </a:prstGeom>
          <a:noFill/>
        </p:spPr>
        <p:txBody>
          <a:bodyPr wrap="square" anchor="t" lIns="0" rIns="0" tIns="0" bIns="0">
            <a:spAutoFit/>
          </a:bodyPr>
          <a:lstStyle/>
          <a:p>
            <a:pPr algn="l">
              <a:lnSpc>
                <a:spcPct val="100000"/>
              </a:lnSpc>
            </a:pPr>
            <a:r>
              <a:rPr sz="1500" b="1" i="0">
                <a:solidFill>
                  <a:srgbClr val="F2C14E"/>
                </a:solidFill>
                <a:latin typeface="Calibri"/>
              </a:rPr>
              <a:t>LECTURE 5  •  DAY 2, 12:00–12:30</a:t>
            </a:r>
          </a:p>
        </p:txBody>
      </p:sp>
      <p:sp>
        <p:nvSpPr>
          <p:cNvPr id="5" name="TextBox 4"/>
          <p:cNvSpPr txBox="1"/>
          <p:nvPr/>
        </p:nvSpPr>
        <p:spPr>
          <a:xfrm>
            <a:off x="822960" y="2697480"/>
            <a:ext cx="10515600" cy="1828800"/>
          </a:xfrm>
          <a:prstGeom prst="rect">
            <a:avLst/>
          </a:prstGeom>
          <a:noFill/>
        </p:spPr>
        <p:txBody>
          <a:bodyPr wrap="square" anchor="t" lIns="0" rIns="0" tIns="0" bIns="0">
            <a:spAutoFit/>
          </a:bodyPr>
          <a:lstStyle/>
          <a:p>
            <a:pPr algn="l">
              <a:lnSpc>
                <a:spcPct val="105000"/>
              </a:lnSpc>
            </a:pPr>
            <a:r>
              <a:rPr sz="4600" b="1" i="0">
                <a:solidFill>
                  <a:srgbClr val="FFFFFF"/>
                </a:solidFill>
                <a:latin typeface="Calibri"/>
              </a:rPr>
              <a:t>Using graphs and tables
to summarise your results</a:t>
            </a:r>
          </a:p>
        </p:txBody>
      </p:sp>
      <p:sp>
        <p:nvSpPr>
          <p:cNvPr id="6" name="TextBox 5"/>
          <p:cNvSpPr txBox="1"/>
          <p:nvPr/>
        </p:nvSpPr>
        <p:spPr>
          <a:xfrm>
            <a:off x="822960" y="4572000"/>
            <a:ext cx="9601200" cy="1097280"/>
          </a:xfrm>
          <a:prstGeom prst="rect">
            <a:avLst/>
          </a:prstGeom>
          <a:noFill/>
        </p:spPr>
        <p:txBody>
          <a:bodyPr wrap="square" anchor="t" lIns="0" rIns="0" tIns="0" bIns="0">
            <a:spAutoFit/>
          </a:bodyPr>
          <a:lstStyle/>
          <a:p>
            <a:pPr algn="l">
              <a:lnSpc>
                <a:spcPct val="125000"/>
              </a:lnSpc>
            </a:pPr>
            <a:r>
              <a:rPr sz="1900" b="0" i="1">
                <a:solidFill>
                  <a:srgbClr val="C8D4E4"/>
                </a:solidFill>
                <a:latin typeface="Calibri"/>
              </a:rPr>
              <a:t>SORT IT Module 3  •  Data analysis and interpretation of results  •  Timor-Leste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2194560"/>
            <a:ext cx="76200" cy="237744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54480" y="2194560"/>
            <a:ext cx="9326880" cy="2377440"/>
          </a:xfrm>
          <a:prstGeom prst="rect">
            <a:avLst/>
          </a:prstGeom>
          <a:noFill/>
        </p:spPr>
        <p:txBody>
          <a:bodyPr wrap="square" anchor="ctr" lIns="0" rIns="0" tIns="0" bIns="0">
            <a:spAutoFit/>
          </a:bodyPr>
          <a:lstStyle/>
          <a:p>
            <a:pPr algn="l">
              <a:lnSpc>
                <a:spcPct val="125000"/>
              </a:lnSpc>
            </a:pPr>
            <a:r>
              <a:rPr sz="3000" b="1" i="0">
                <a:solidFill>
                  <a:srgbClr val="1F3864"/>
                </a:solidFill>
                <a:latin typeface="Calibri"/>
              </a:rPr>
              <a:t>“If your figure needs a paragraph
to explain it, redraw the figure.”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789920" cy="274320"/>
          </a:xfrm>
          <a:prstGeom prst="rect">
            <a:avLst/>
          </a:prstGeom>
          <a:noFill/>
        </p:spPr>
        <p:txBody>
          <a:bodyPr wrap="square" anchor="t" lIns="0" rIns="0" tIns="0" bIns="0">
            <a:spAutoFit/>
          </a:bodyPr>
          <a:lstStyle/>
          <a:p>
            <a:pPr algn="l">
              <a:lnSpc>
                <a:spcPct val="100000"/>
              </a:lnSpc>
            </a:pPr>
            <a:r>
              <a:rPr sz="1050" b="1" i="0">
                <a:solidFill>
                  <a:srgbClr val="F2C14E"/>
                </a:solidFill>
                <a:latin typeface="Calibri"/>
              </a:rPr>
              <a:t>START HERE</a:t>
            </a:r>
          </a:p>
        </p:txBody>
      </p:sp>
      <p:sp>
        <p:nvSpPr>
          <p:cNvPr id="5" name="TextBox 4"/>
          <p:cNvSpPr txBox="1"/>
          <p:nvPr/>
        </p:nvSpPr>
        <p:spPr>
          <a:xfrm>
            <a:off x="685800" y="475488"/>
            <a:ext cx="10789920" cy="548640"/>
          </a:xfrm>
          <a:prstGeom prst="rect">
            <a:avLst/>
          </a:prstGeom>
          <a:noFill/>
        </p:spPr>
        <p:txBody>
          <a:bodyPr wrap="square" anchor="t" lIns="0" rIns="0" tIns="0" bIns="0">
            <a:spAutoFit/>
          </a:bodyPr>
          <a:lstStyle/>
          <a:p>
            <a:pPr algn="l">
              <a:lnSpc>
                <a:spcPct val="100000"/>
              </a:lnSpc>
            </a:pPr>
            <a:r>
              <a:rPr sz="2700" b="1" i="0">
                <a:solidFill>
                  <a:srgbClr val="FFFFFF"/>
                </a:solidFill>
                <a:latin typeface="Calibri"/>
              </a:rPr>
              <a:t>The only question that matters</a:t>
            </a:r>
          </a:p>
        </p:txBody>
      </p:sp>
      <p:sp>
        <p:nvSpPr>
          <p:cNvPr id="6" name="TextBox 5"/>
          <p:cNvSpPr txBox="1"/>
          <p:nvPr/>
        </p:nvSpPr>
        <p:spPr>
          <a:xfrm>
            <a:off x="868680" y="1600200"/>
            <a:ext cx="10515600" cy="4754880"/>
          </a:xfrm>
          <a:prstGeom prst="rect">
            <a:avLst/>
          </a:prstGeom>
          <a:noFill/>
        </p:spPr>
        <p:txBody>
          <a:bodyPr wrap="square" anchor="t" lIns="0" rIns="0" tIns="0" bIns="0">
            <a:spAutoFit/>
          </a:bodyPr>
          <a:lstStyle/>
          <a:p>
            <a:pPr algn="l">
              <a:lnSpc>
                <a:spcPct val="128000"/>
              </a:lnSpc>
            </a:pPr>
            <a:r>
              <a:rPr sz="2100" b="0" i="0">
                <a:solidFill>
                  <a:srgbClr val="1A1A1A"/>
                </a:solidFill>
                <a:latin typeface="Calibri"/>
              </a:rPr>
              <a:t>▪   Before you build any table or chart, finish this sentence:</a:t>
            </a:r>
          </a:p>
          <a:p>
            <a:pPr algn="l">
              <a:lnSpc>
                <a:spcPct val="128000"/>
              </a:lnSpc>
              <a:spcBef>
                <a:spcPts val="1500"/>
              </a:spcBef>
            </a:pPr>
            <a:r>
              <a:rPr sz="2100" b="0" i="0">
                <a:solidFill>
                  <a:srgbClr val="1A1A1A"/>
                </a:solidFill>
                <a:latin typeface="Calibri"/>
              </a:rPr>
              <a:t>▪   “This table shows the reader that …”</a:t>
            </a:r>
          </a:p>
          <a:p>
            <a:pPr algn="l">
              <a:lnSpc>
                <a:spcPct val="128000"/>
              </a:lnSpc>
              <a:spcBef>
                <a:spcPts val="1500"/>
              </a:spcBef>
            </a:pPr>
            <a:r>
              <a:rPr sz="2100" b="0" i="0">
                <a:solidFill>
                  <a:srgbClr val="1A1A1A"/>
                </a:solidFill>
                <a:latin typeface="Calibri"/>
              </a:rPr>
              <a:t>▪   If you cannot finish it in one sentence, you do not know what the table is for — and you are not ready to build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914400"/>
          </a:xfrm>
          <a:prstGeom prst="rect">
            <a:avLst/>
          </a:prstGeom>
          <a:noFill/>
        </p:spPr>
        <p:txBody>
          <a:bodyPr wrap="square" anchor="t" lIns="0" rIns="0" tIns="0" bIns="0">
            <a:spAutoFit/>
          </a:bodyPr>
          <a:lstStyle/>
          <a:p>
            <a:pPr algn="l">
              <a:lnSpc>
                <a:spcPct val="100000"/>
              </a:lnSpc>
            </a:pPr>
            <a:r>
              <a:rPr sz="1500" b="1" i="0">
                <a:solidFill>
                  <a:srgbClr val="B8E4DD"/>
                </a:solidFill>
                <a:latin typeface="Calibri"/>
              </a:rPr>
              <a:t>Part 1</a:t>
            </a:r>
          </a:p>
        </p:txBody>
      </p:sp>
      <p:sp>
        <p:nvSpPr>
          <p:cNvPr id="4" name="TextBox 3"/>
          <p:cNvSpPr txBox="1"/>
          <p:nvPr/>
        </p:nvSpPr>
        <p:spPr>
          <a:xfrm>
            <a:off x="822960" y="2606040"/>
            <a:ext cx="10515600" cy="1645920"/>
          </a:xfrm>
          <a:prstGeom prst="rect">
            <a:avLst/>
          </a:prstGeom>
          <a:noFill/>
        </p:spPr>
        <p:txBody>
          <a:bodyPr wrap="square" anchor="t" lIns="0" rIns="0" tIns="0" bIns="0">
            <a:spAutoFit/>
          </a:bodyPr>
          <a:lstStyle/>
          <a:p>
            <a:pPr algn="l">
              <a:lnSpc>
                <a:spcPct val="105000"/>
              </a:lnSpc>
            </a:pPr>
            <a:r>
              <a:rPr sz="4200" b="1" i="0">
                <a:solidFill>
                  <a:srgbClr val="FFFFFF"/>
                </a:solidFill>
                <a:latin typeface="Calibri"/>
              </a:rPr>
              <a:t>Tables</a:t>
            </a:r>
          </a:p>
        </p:txBody>
      </p:sp>
      <p:sp>
        <p:nvSpPr>
          <p:cNvPr id="5" name="TextBox 4"/>
          <p:cNvSpPr txBox="1"/>
          <p:nvPr/>
        </p:nvSpPr>
        <p:spPr>
          <a:xfrm>
            <a:off x="822960" y="4160520"/>
            <a:ext cx="9601200" cy="914400"/>
          </a:xfrm>
          <a:prstGeom prst="rect">
            <a:avLst/>
          </a:prstGeom>
          <a:noFill/>
        </p:spPr>
        <p:txBody>
          <a:bodyPr wrap="square" anchor="t" lIns="0" rIns="0" tIns="0" bIns="0">
            <a:spAutoFit/>
          </a:bodyPr>
          <a:lstStyle/>
          <a:p>
            <a:pPr algn="l">
              <a:lnSpc>
                <a:spcPct val="100000"/>
              </a:lnSpc>
            </a:pPr>
            <a:r>
              <a:rPr sz="1900" b="0" i="1">
                <a:solidFill>
                  <a:srgbClr val="D6EFEA"/>
                </a:solidFill>
                <a:latin typeface="Calibri"/>
              </a:rPr>
              <a:t>Eight things every good table has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789920" cy="274320"/>
          </a:xfrm>
          <a:prstGeom prst="rect">
            <a:avLst/>
          </a:prstGeom>
          <a:noFill/>
        </p:spPr>
        <p:txBody>
          <a:bodyPr wrap="square" anchor="t" lIns="0" rIns="0" tIns="0" bIns="0">
            <a:spAutoFit/>
          </a:bodyPr>
          <a:lstStyle/>
          <a:p>
            <a:pPr algn="l">
              <a:lnSpc>
                <a:spcPct val="100000"/>
              </a:lnSpc>
            </a:pPr>
            <a:r>
              <a:rPr sz="1050" b="1" i="0">
                <a:solidFill>
                  <a:srgbClr val="F2C14E"/>
                </a:solidFill>
                <a:latin typeface="Calibri"/>
              </a:rPr>
              <a:t>TABLES</a:t>
            </a:r>
          </a:p>
        </p:txBody>
      </p:sp>
      <p:sp>
        <p:nvSpPr>
          <p:cNvPr id="5" name="TextBox 4"/>
          <p:cNvSpPr txBox="1"/>
          <p:nvPr/>
        </p:nvSpPr>
        <p:spPr>
          <a:xfrm>
            <a:off x="685800" y="475488"/>
            <a:ext cx="10789920" cy="548640"/>
          </a:xfrm>
          <a:prstGeom prst="rect">
            <a:avLst/>
          </a:prstGeom>
          <a:noFill/>
        </p:spPr>
        <p:txBody>
          <a:bodyPr wrap="square" anchor="t" lIns="0" rIns="0" tIns="0" bIns="0">
            <a:spAutoFit/>
          </a:bodyPr>
          <a:lstStyle/>
          <a:p>
            <a:pPr algn="l">
              <a:lnSpc>
                <a:spcPct val="100000"/>
              </a:lnSpc>
            </a:pPr>
            <a:r>
              <a:rPr sz="2700" b="1" i="0">
                <a:solidFill>
                  <a:srgbClr val="FFFFFF"/>
                </a:solidFill>
                <a:latin typeface="Calibri"/>
              </a:rPr>
              <a:t>The eight parts</a:t>
            </a:r>
          </a:p>
        </p:txBody>
      </p:sp>
      <p:graphicFrame>
        <p:nvGraphicFramePr>
          <p:cNvPr id="6" name="Table 5"/>
          <p:cNvGraphicFramePr>
            <a:graphicFrameLocks noGrp="1"/>
          </p:cNvGraphicFramePr>
          <p:nvPr/>
        </p:nvGraphicFramePr>
        <p:xfrm>
          <a:off x="685800" y="1554480"/>
          <a:ext cx="10835639" cy="4800600"/>
        </p:xfrm>
        <a:graphic>
          <a:graphicData uri="http://schemas.openxmlformats.org/drawingml/2006/table">
            <a:tbl>
              <a:tblPr firstRow="1" bandRow="1">
                <a:tableStyleId>{5C22544A-7EE6-4342-B048-85BDC9FD1C3A}</a:tableStyleId>
              </a:tblPr>
              <a:tblGrid>
                <a:gridCol w="433425"/>
                <a:gridCol w="3250692"/>
                <a:gridCol w="7151522"/>
              </a:tblGrid>
              <a:tr h="533400">
                <a:tc>
                  <a:txBody>
                    <a:bodyPr/>
                    <a:lstStyle/>
                    <a:p>
                      <a:pPr>
                        <a:defRPr sz="1500" b="1">
                          <a:solidFill>
                            <a:srgbClr val="FFFFFF"/>
                          </a:solidFill>
                          <a:latin typeface="Calibri"/>
                        </a:defRPr>
                      </a:pPr>
                      <a:r>
                        <a:t>#</a:t>
                      </a:r>
                    </a:p>
                  </a:txBody>
                  <a:tcPr marL="91440" marR="91440" anchor="ctr">
                    <a:solidFill>
                      <a:srgbClr val="1F3864"/>
                    </a:solidFill>
                  </a:tcPr>
                </a:tc>
                <a:tc>
                  <a:txBody>
                    <a:bodyPr/>
                    <a:lstStyle/>
                    <a:p>
                      <a:pPr>
                        <a:defRPr sz="1500" b="1">
                          <a:solidFill>
                            <a:srgbClr val="FFFFFF"/>
                          </a:solidFill>
                          <a:latin typeface="Calibri"/>
                        </a:defRPr>
                      </a:pPr>
                      <a:r>
                        <a:t>Part</a:t>
                      </a:r>
                    </a:p>
                  </a:txBody>
                  <a:tcPr marL="91440" marR="91440" anchor="ctr">
                    <a:solidFill>
                      <a:srgbClr val="1F3864"/>
                    </a:solidFill>
                  </a:tcPr>
                </a:tc>
                <a:tc>
                  <a:txBody>
                    <a:bodyPr/>
                    <a:lstStyle/>
                    <a:p>
                      <a:pPr>
                        <a:defRPr sz="1500" b="1">
                          <a:solidFill>
                            <a:srgbClr val="FFFFFF"/>
                          </a:solidFill>
                          <a:latin typeface="Calibri"/>
                        </a:defRPr>
                      </a:pPr>
                      <a:r>
                        <a:t>Why</a:t>
                      </a:r>
                    </a:p>
                  </a:txBody>
                  <a:tcPr marL="91440" marR="91440" anchor="ctr">
                    <a:solidFill>
                      <a:srgbClr val="1F3864"/>
                    </a:solidFill>
                  </a:tcPr>
                </a:tc>
              </a:tr>
              <a:tr h="533400">
                <a:tc>
                  <a:txBody>
                    <a:bodyPr/>
                    <a:lstStyle/>
                    <a:p>
                      <a:pPr>
                        <a:defRPr sz="1400">
                          <a:solidFill>
                            <a:srgbClr val="1A1A1A"/>
                          </a:solidFill>
                          <a:latin typeface="Calibri"/>
                        </a:defRPr>
                      </a:pPr>
                      <a:r>
                        <a:t>1</a:t>
                      </a:r>
                    </a:p>
                  </a:txBody>
                  <a:tcPr marL="91440" marR="91440" marT="27432" marB="27432" anchor="ctr">
                    <a:solidFill>
                      <a:srgbClr val="FFFFFF"/>
                    </a:solidFill>
                  </a:tcPr>
                </a:tc>
                <a:tc>
                  <a:txBody>
                    <a:bodyPr/>
                    <a:lstStyle/>
                    <a:p>
                      <a:pPr>
                        <a:defRPr sz="1400" b="1">
                          <a:solidFill>
                            <a:srgbClr val="1F3864"/>
                          </a:solidFill>
                          <a:latin typeface="Calibri"/>
                        </a:defRPr>
                      </a:pPr>
                      <a:r>
                        <a:t>Number and title</a:t>
                      </a:r>
                    </a:p>
                  </a:txBody>
                  <a:tcPr marL="91440" marR="91440" marT="27432" marB="27432" anchor="ctr">
                    <a:solidFill>
                      <a:srgbClr val="FFFFFF"/>
                    </a:solidFill>
                  </a:tcPr>
                </a:tc>
                <a:tc>
                  <a:txBody>
                    <a:bodyPr/>
                    <a:lstStyle/>
                    <a:p>
                      <a:pPr>
                        <a:defRPr sz="1400">
                          <a:solidFill>
                            <a:srgbClr val="1A1A1A"/>
                          </a:solidFill>
                          <a:latin typeface="Calibri"/>
                        </a:defRPr>
                      </a:pPr>
                      <a:r>
                        <a:t>What, who, where, when</a:t>
                      </a:r>
                    </a:p>
                  </a:txBody>
                  <a:tcPr marL="91440" marR="91440" marT="27432" marB="27432" anchor="ctr">
                    <a:solidFill>
                      <a:srgbClr val="FFFFFF"/>
                    </a:solidFill>
                  </a:tcPr>
                </a:tc>
              </a:tr>
              <a:tr h="533400">
                <a:tc>
                  <a:txBody>
                    <a:bodyPr/>
                    <a:lstStyle/>
                    <a:p>
                      <a:pPr>
                        <a:defRPr sz="1400">
                          <a:solidFill>
                            <a:srgbClr val="1A1A1A"/>
                          </a:solidFill>
                          <a:latin typeface="Calibri"/>
                        </a:defRPr>
                      </a:pPr>
                      <a:r>
                        <a:t>2</a:t>
                      </a:r>
                    </a:p>
                  </a:txBody>
                  <a:tcPr marL="91440" marR="91440" marT="27432" marB="27432" anchor="ctr">
                    <a:solidFill>
                      <a:srgbClr val="EDF2F7"/>
                    </a:solidFill>
                  </a:tcPr>
                </a:tc>
                <a:tc>
                  <a:txBody>
                    <a:bodyPr/>
                    <a:lstStyle/>
                    <a:p>
                      <a:pPr>
                        <a:defRPr sz="1400" b="1">
                          <a:solidFill>
                            <a:srgbClr val="1F3864"/>
                          </a:solidFill>
                          <a:latin typeface="Calibri"/>
                        </a:defRPr>
                      </a:pPr>
                      <a:r>
                        <a:t>Total N stated</a:t>
                      </a:r>
                    </a:p>
                  </a:txBody>
                  <a:tcPr marL="91440" marR="91440" marT="27432" marB="27432" anchor="ctr">
                    <a:solidFill>
                      <a:srgbClr val="EDF2F7"/>
                    </a:solidFill>
                  </a:tcPr>
                </a:tc>
                <a:tc>
                  <a:txBody>
                    <a:bodyPr/>
                    <a:lstStyle/>
                    <a:p>
                      <a:pPr>
                        <a:defRPr sz="1400">
                          <a:solidFill>
                            <a:srgbClr val="1A1A1A"/>
                          </a:solidFill>
                          <a:latin typeface="Calibri"/>
                        </a:defRPr>
                      </a:pPr>
                      <a:r>
                        <a:t>The reader never has to add up your column</a:t>
                      </a:r>
                    </a:p>
                  </a:txBody>
                  <a:tcPr marL="91440" marR="91440" marT="27432" marB="27432" anchor="ctr">
                    <a:solidFill>
                      <a:srgbClr val="EDF2F7"/>
                    </a:solidFill>
                  </a:tcPr>
                </a:tc>
              </a:tr>
              <a:tr h="533400">
                <a:tc>
                  <a:txBody>
                    <a:bodyPr/>
                    <a:lstStyle/>
                    <a:p>
                      <a:pPr>
                        <a:defRPr sz="1400">
                          <a:solidFill>
                            <a:srgbClr val="1A1A1A"/>
                          </a:solidFill>
                          <a:latin typeface="Calibri"/>
                        </a:defRPr>
                      </a:pPr>
                      <a:r>
                        <a:t>3</a:t>
                      </a:r>
                    </a:p>
                  </a:txBody>
                  <a:tcPr marL="91440" marR="91440" marT="27432" marB="27432" anchor="ctr">
                    <a:solidFill>
                      <a:srgbClr val="FFFFFF"/>
                    </a:solidFill>
                  </a:tcPr>
                </a:tc>
                <a:tc>
                  <a:txBody>
                    <a:bodyPr/>
                    <a:lstStyle/>
                    <a:p>
                      <a:pPr>
                        <a:defRPr sz="1400" b="1">
                          <a:solidFill>
                            <a:srgbClr val="1F3864"/>
                          </a:solidFill>
                          <a:latin typeface="Calibri"/>
                        </a:defRPr>
                      </a:pPr>
                      <a:r>
                        <a:t>Rows in a sensible order</a:t>
                      </a:r>
                    </a:p>
                  </a:txBody>
                  <a:tcPr marL="91440" marR="91440" marT="27432" marB="27432" anchor="ctr">
                    <a:solidFill>
                      <a:srgbClr val="FFFFFF"/>
                    </a:solidFill>
                  </a:tcPr>
                </a:tc>
                <a:tc>
                  <a:txBody>
                    <a:bodyPr/>
                    <a:lstStyle/>
                    <a:p>
                      <a:pPr>
                        <a:defRPr sz="1400">
                          <a:solidFill>
                            <a:srgbClr val="1A1A1A"/>
                          </a:solidFill>
                          <a:latin typeface="Calibri"/>
                        </a:defRPr>
                      </a:pPr>
                      <a:r>
                        <a:t>By frequency, or natural order — never alphabetical by accident</a:t>
                      </a:r>
                    </a:p>
                  </a:txBody>
                  <a:tcPr marL="91440" marR="91440" marT="27432" marB="27432" anchor="ctr">
                    <a:solidFill>
                      <a:srgbClr val="FFFFFF"/>
                    </a:solidFill>
                  </a:tcPr>
                </a:tc>
              </a:tr>
              <a:tr h="533400">
                <a:tc>
                  <a:txBody>
                    <a:bodyPr/>
                    <a:lstStyle/>
                    <a:p>
                      <a:pPr>
                        <a:defRPr sz="1400">
                          <a:solidFill>
                            <a:srgbClr val="1A1A1A"/>
                          </a:solidFill>
                          <a:latin typeface="Calibri"/>
                        </a:defRPr>
                      </a:pPr>
                      <a:r>
                        <a:t>4</a:t>
                      </a:r>
                    </a:p>
                  </a:txBody>
                  <a:tcPr marL="91440" marR="91440" marT="27432" marB="27432" anchor="ctr">
                    <a:solidFill>
                      <a:srgbClr val="EDF2F7"/>
                    </a:solidFill>
                  </a:tcPr>
                </a:tc>
                <a:tc>
                  <a:txBody>
                    <a:bodyPr/>
                    <a:lstStyle/>
                    <a:p>
                      <a:pPr>
                        <a:defRPr sz="1400" b="1">
                          <a:solidFill>
                            <a:srgbClr val="1F3864"/>
                          </a:solidFill>
                          <a:latin typeface="Calibri"/>
                        </a:defRPr>
                      </a:pPr>
                      <a:r>
                        <a:t>n and % together</a:t>
                      </a:r>
                    </a:p>
                  </a:txBody>
                  <a:tcPr marL="91440" marR="91440" marT="27432" marB="27432" anchor="ctr">
                    <a:solidFill>
                      <a:srgbClr val="EDF2F7"/>
                    </a:solidFill>
                  </a:tcPr>
                </a:tc>
                <a:tc>
                  <a:txBody>
                    <a:bodyPr/>
                    <a:lstStyle/>
                    <a:p>
                      <a:pPr>
                        <a:defRPr sz="1400">
                          <a:solidFill>
                            <a:srgbClr val="1A1A1A"/>
                          </a:solidFill>
                          <a:latin typeface="Calibri"/>
                        </a:defRPr>
                      </a:pPr>
                      <a:r>
                        <a:t>“96 (53.3)” — count lets them check, % lets them compare</a:t>
                      </a:r>
                    </a:p>
                  </a:txBody>
                  <a:tcPr marL="91440" marR="91440" marT="27432" marB="27432" anchor="ctr">
                    <a:solidFill>
                      <a:srgbClr val="EDF2F7"/>
                    </a:solidFill>
                  </a:tcPr>
                </a:tc>
              </a:tr>
              <a:tr h="533400">
                <a:tc>
                  <a:txBody>
                    <a:bodyPr/>
                    <a:lstStyle/>
                    <a:p>
                      <a:pPr>
                        <a:defRPr sz="1400">
                          <a:solidFill>
                            <a:srgbClr val="1A1A1A"/>
                          </a:solidFill>
                          <a:latin typeface="Calibri"/>
                        </a:defRPr>
                      </a:pPr>
                      <a:r>
                        <a:t>5</a:t>
                      </a:r>
                    </a:p>
                  </a:txBody>
                  <a:tcPr marL="91440" marR="91440" marT="27432" marB="27432" anchor="ctr">
                    <a:solidFill>
                      <a:srgbClr val="FFFFFF"/>
                    </a:solidFill>
                  </a:tcPr>
                </a:tc>
                <a:tc>
                  <a:txBody>
                    <a:bodyPr/>
                    <a:lstStyle/>
                    <a:p>
                      <a:pPr>
                        <a:defRPr sz="1400" b="1">
                          <a:solidFill>
                            <a:srgbClr val="1F3864"/>
                          </a:solidFill>
                          <a:latin typeface="Calibri"/>
                        </a:defRPr>
                      </a:pPr>
                      <a:r>
                        <a:t>Consistent decimals</a:t>
                      </a:r>
                    </a:p>
                  </a:txBody>
                  <a:tcPr marL="91440" marR="91440" marT="27432" marB="27432" anchor="ctr">
                    <a:solidFill>
                      <a:srgbClr val="FFFFFF"/>
                    </a:solidFill>
                  </a:tcPr>
                </a:tc>
                <a:tc>
                  <a:txBody>
                    <a:bodyPr/>
                    <a:lstStyle/>
                    <a:p>
                      <a:pPr>
                        <a:defRPr sz="1400">
                          <a:solidFill>
                            <a:srgbClr val="1A1A1A"/>
                          </a:solidFill>
                          <a:latin typeface="Calibri"/>
                        </a:defRPr>
                      </a:pPr>
                      <a:r>
                        <a:t>One decimal place. “78.75324%” is false precision</a:t>
                      </a:r>
                    </a:p>
                  </a:txBody>
                  <a:tcPr marL="91440" marR="91440" marT="27432" marB="27432" anchor="ctr">
                    <a:solidFill>
                      <a:srgbClr val="FFFFFF"/>
                    </a:solidFill>
                  </a:tcPr>
                </a:tc>
              </a:tr>
              <a:tr h="533400">
                <a:tc>
                  <a:txBody>
                    <a:bodyPr/>
                    <a:lstStyle/>
                    <a:p>
                      <a:pPr>
                        <a:defRPr sz="1400">
                          <a:solidFill>
                            <a:srgbClr val="1A1A1A"/>
                          </a:solidFill>
                          <a:latin typeface="Calibri"/>
                        </a:defRPr>
                      </a:pPr>
                      <a:r>
                        <a:t>6</a:t>
                      </a:r>
                    </a:p>
                  </a:txBody>
                  <a:tcPr marL="91440" marR="91440" marT="27432" marB="27432" anchor="ctr">
                    <a:solidFill>
                      <a:srgbClr val="EDF2F7"/>
                    </a:solidFill>
                  </a:tcPr>
                </a:tc>
                <a:tc>
                  <a:txBody>
                    <a:bodyPr/>
                    <a:lstStyle/>
                    <a:p>
                      <a:pPr>
                        <a:defRPr sz="1400" b="1">
                          <a:solidFill>
                            <a:srgbClr val="1F3864"/>
                          </a:solidFill>
                          <a:latin typeface="Calibri"/>
                        </a:defRPr>
                      </a:pPr>
                      <a:r>
                        <a:t>Headers name the denominator</a:t>
                      </a:r>
                    </a:p>
                  </a:txBody>
                  <a:tcPr marL="91440" marR="91440" marT="27432" marB="27432" anchor="ctr">
                    <a:solidFill>
                      <a:srgbClr val="EDF2F7"/>
                    </a:solidFill>
                  </a:tcPr>
                </a:tc>
                <a:tc>
                  <a:txBody>
                    <a:bodyPr/>
                    <a:lstStyle/>
                    <a:p>
                      <a:pPr>
                        <a:defRPr sz="1400">
                          <a:solidFill>
                            <a:srgbClr val="1A1A1A"/>
                          </a:solidFill>
                          <a:latin typeface="Calibri"/>
                        </a:defRPr>
                      </a:pPr>
                      <a:r>
                        <a:t>“n (%) of 160 evaluated”</a:t>
                      </a:r>
                    </a:p>
                  </a:txBody>
                  <a:tcPr marL="91440" marR="91440" marT="27432" marB="27432" anchor="ctr">
                    <a:solidFill>
                      <a:srgbClr val="EDF2F7"/>
                    </a:solidFill>
                  </a:tcPr>
                </a:tc>
              </a:tr>
              <a:tr h="533400">
                <a:tc>
                  <a:txBody>
                    <a:bodyPr/>
                    <a:lstStyle/>
                    <a:p>
                      <a:pPr>
                        <a:defRPr sz="1400">
                          <a:solidFill>
                            <a:srgbClr val="1A1A1A"/>
                          </a:solidFill>
                          <a:latin typeface="Calibri"/>
                        </a:defRPr>
                      </a:pPr>
                      <a:r>
                        <a:t>7</a:t>
                      </a:r>
                    </a:p>
                  </a:txBody>
                  <a:tcPr marL="91440" marR="91440" marT="27432" marB="27432" anchor="ctr">
                    <a:solidFill>
                      <a:srgbClr val="FFFFFF"/>
                    </a:solidFill>
                  </a:tcPr>
                </a:tc>
                <a:tc>
                  <a:txBody>
                    <a:bodyPr/>
                    <a:lstStyle/>
                    <a:p>
                      <a:pPr>
                        <a:defRPr sz="1400" b="1">
                          <a:solidFill>
                            <a:srgbClr val="1F3864"/>
                          </a:solidFill>
                          <a:latin typeface="Calibri"/>
                        </a:defRPr>
                      </a:pPr>
                      <a:r>
                        <a:t>A footnote per exclusion</a:t>
                      </a:r>
                    </a:p>
                  </a:txBody>
                  <a:tcPr marL="91440" marR="91440" marT="27432" marB="27432" anchor="ctr">
                    <a:solidFill>
                      <a:srgbClr val="FFFFFF"/>
                    </a:solidFill>
                  </a:tcPr>
                </a:tc>
                <a:tc>
                  <a:txBody>
                    <a:bodyPr/>
                    <a:lstStyle/>
                    <a:p>
                      <a:pPr>
                        <a:defRPr sz="1400">
                          <a:solidFill>
                            <a:srgbClr val="1A1A1A"/>
                          </a:solidFill>
                          <a:latin typeface="Calibri"/>
                        </a:defRPr>
                      </a:pPr>
                      <a:r>
                        <a:t>This is where honesty lives</a:t>
                      </a:r>
                    </a:p>
                  </a:txBody>
                  <a:tcPr marL="91440" marR="91440" marT="27432" marB="27432" anchor="ctr">
                    <a:solidFill>
                      <a:srgbClr val="FFFFFF"/>
                    </a:solidFill>
                  </a:tcPr>
                </a:tc>
              </a:tr>
              <a:tr h="533400">
                <a:tc>
                  <a:txBody>
                    <a:bodyPr/>
                    <a:lstStyle/>
                    <a:p>
                      <a:pPr>
                        <a:defRPr sz="1400">
                          <a:solidFill>
                            <a:srgbClr val="1A1A1A"/>
                          </a:solidFill>
                          <a:latin typeface="Calibri"/>
                        </a:defRPr>
                      </a:pPr>
                      <a:r>
                        <a:t>8</a:t>
                      </a:r>
                    </a:p>
                  </a:txBody>
                  <a:tcPr marL="91440" marR="91440" marT="27432" marB="27432" anchor="ctr">
                    <a:solidFill>
                      <a:srgbClr val="EDF2F7"/>
                    </a:solidFill>
                  </a:tcPr>
                </a:tc>
                <a:tc>
                  <a:txBody>
                    <a:bodyPr/>
                    <a:lstStyle/>
                    <a:p>
                      <a:pPr>
                        <a:defRPr sz="1400" b="1">
                          <a:solidFill>
                            <a:srgbClr val="1F3864"/>
                          </a:solidFill>
                          <a:latin typeface="Calibri"/>
                        </a:defRPr>
                      </a:pPr>
                      <a:r>
                        <a:t>No vertical lines</a:t>
                      </a:r>
                    </a:p>
                  </a:txBody>
                  <a:tcPr marL="91440" marR="91440" marT="27432" marB="27432" anchor="ctr">
                    <a:solidFill>
                      <a:srgbClr val="EDF2F7"/>
                    </a:solidFill>
                  </a:tcPr>
                </a:tc>
                <a:tc>
                  <a:txBody>
                    <a:bodyPr/>
                    <a:lstStyle/>
                    <a:p>
                      <a:pPr>
                        <a:defRPr sz="1400">
                          <a:solidFill>
                            <a:srgbClr val="1A1A1A"/>
                          </a:solidFill>
                          <a:latin typeface="Calibri"/>
                        </a:defRPr>
                      </a:pPr>
                      <a:r>
                        <a:t>Three horizontal rules. Journal standard</a:t>
                      </a:r>
                    </a:p>
                  </a:txBody>
                  <a:tcPr marL="91440" marR="91440" marT="27432" marB="27432" anchor="ctr">
                    <a:solidFill>
                      <a:srgbClr val="EDF2F7"/>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789920" cy="274320"/>
          </a:xfrm>
          <a:prstGeom prst="rect">
            <a:avLst/>
          </a:prstGeom>
          <a:noFill/>
        </p:spPr>
        <p:txBody>
          <a:bodyPr wrap="square" anchor="t" lIns="0" rIns="0" tIns="0" bIns="0">
            <a:spAutoFit/>
          </a:bodyPr>
          <a:lstStyle/>
          <a:p>
            <a:pPr algn="l">
              <a:lnSpc>
                <a:spcPct val="100000"/>
              </a:lnSpc>
            </a:pPr>
            <a:r>
              <a:rPr sz="1050" b="1" i="0">
                <a:solidFill>
                  <a:srgbClr val="F2C14E"/>
                </a:solidFill>
                <a:latin typeface="Calibri"/>
              </a:rPr>
              <a:t>TABLES</a:t>
            </a:r>
          </a:p>
        </p:txBody>
      </p:sp>
      <p:sp>
        <p:nvSpPr>
          <p:cNvPr id="5" name="TextBox 4"/>
          <p:cNvSpPr txBox="1"/>
          <p:nvPr/>
        </p:nvSpPr>
        <p:spPr>
          <a:xfrm>
            <a:off x="685800" y="475488"/>
            <a:ext cx="10789920" cy="548640"/>
          </a:xfrm>
          <a:prstGeom prst="rect">
            <a:avLst/>
          </a:prstGeom>
          <a:noFill/>
        </p:spPr>
        <p:txBody>
          <a:bodyPr wrap="square" anchor="t" lIns="0" rIns="0" tIns="0" bIns="0">
            <a:spAutoFit/>
          </a:bodyPr>
          <a:lstStyle/>
          <a:p>
            <a:pPr algn="l">
              <a:lnSpc>
                <a:spcPct val="100000"/>
              </a:lnSpc>
            </a:pPr>
            <a:r>
              <a:rPr sz="2700" b="1" i="0">
                <a:solidFill>
                  <a:srgbClr val="FFFFFF"/>
                </a:solidFill>
                <a:latin typeface="Calibri"/>
              </a:rPr>
              <a:t>Before — what most first drafts look like</a:t>
            </a:r>
          </a:p>
        </p:txBody>
      </p:sp>
      <p:graphicFrame>
        <p:nvGraphicFramePr>
          <p:cNvPr id="6" name="Table 5"/>
          <p:cNvGraphicFramePr>
            <a:graphicFrameLocks noGrp="1"/>
          </p:cNvGraphicFramePr>
          <p:nvPr/>
        </p:nvGraphicFramePr>
        <p:xfrm>
          <a:off x="685800" y="1554480"/>
          <a:ext cx="10835640" cy="4800600"/>
        </p:xfrm>
        <a:graphic>
          <a:graphicData uri="http://schemas.openxmlformats.org/drawingml/2006/table">
            <a:tbl>
              <a:tblPr firstRow="1" bandRow="1">
                <a:tableStyleId>{5C22544A-7EE6-4342-B048-85BDC9FD1C3A}</a:tableStyleId>
              </a:tblPr>
              <a:tblGrid>
                <a:gridCol w="4876038"/>
                <a:gridCol w="2708910"/>
                <a:gridCol w="3250692"/>
              </a:tblGrid>
              <a:tr h="600075">
                <a:tc>
                  <a:txBody>
                    <a:bodyPr/>
                    <a:lstStyle/>
                    <a:p>
                      <a:pPr>
                        <a:defRPr sz="1500" b="1">
                          <a:solidFill>
                            <a:srgbClr val="FFFFFF"/>
                          </a:solidFill>
                          <a:latin typeface="Calibri"/>
                        </a:defRPr>
                      </a:pPr>
                      <a:r>
                        <a:t>Outcome</a:t>
                      </a:r>
                    </a:p>
                  </a:txBody>
                  <a:tcPr marL="91440" marR="91440" anchor="ctr">
                    <a:solidFill>
                      <a:srgbClr val="1F3864"/>
                    </a:solidFill>
                  </a:tcPr>
                </a:tc>
                <a:tc>
                  <a:txBody>
                    <a:bodyPr/>
                    <a:lstStyle/>
                    <a:p>
                      <a:pPr>
                        <a:defRPr sz="1500" b="1">
                          <a:solidFill>
                            <a:srgbClr val="FFFFFF"/>
                          </a:solidFill>
                          <a:latin typeface="Calibri"/>
                        </a:defRPr>
                      </a:pPr>
                      <a:r>
                        <a:t>Number</a:t>
                      </a:r>
                    </a:p>
                  </a:txBody>
                  <a:tcPr marL="91440" marR="91440" anchor="ctr">
                    <a:solidFill>
                      <a:srgbClr val="1F3864"/>
                    </a:solidFill>
                  </a:tcPr>
                </a:tc>
                <a:tc>
                  <a:txBody>
                    <a:bodyPr/>
                    <a:lstStyle/>
                    <a:p>
                      <a:pPr>
                        <a:defRPr sz="1500" b="1">
                          <a:solidFill>
                            <a:srgbClr val="FFFFFF"/>
                          </a:solidFill>
                          <a:latin typeface="Calibri"/>
                        </a:defRPr>
                      </a:pPr>
                      <a:r>
                        <a:t>Percent</a:t>
                      </a:r>
                    </a:p>
                  </a:txBody>
                  <a:tcPr marL="91440" marR="91440" anchor="ctr">
                    <a:solidFill>
                      <a:srgbClr val="1F3864"/>
                    </a:solidFill>
                  </a:tcPr>
                </a:tc>
              </a:tr>
              <a:tr h="600075">
                <a:tc>
                  <a:txBody>
                    <a:bodyPr/>
                    <a:lstStyle/>
                    <a:p>
                      <a:pPr>
                        <a:defRPr sz="1400">
                          <a:solidFill>
                            <a:srgbClr val="1A1A1A"/>
                          </a:solidFill>
                          <a:latin typeface="Calibri"/>
                        </a:defRPr>
                      </a:pPr>
                      <a:r>
                        <a:t>Cured</a:t>
                      </a:r>
                    </a:p>
                  </a:txBody>
                  <a:tcPr marL="91440" marR="91440" marT="27432" marB="27432" anchor="ctr">
                    <a:solidFill>
                      <a:srgbClr val="FFFFFF"/>
                    </a:solidFill>
                  </a:tcPr>
                </a:tc>
                <a:tc>
                  <a:txBody>
                    <a:bodyPr/>
                    <a:lstStyle/>
                    <a:p>
                      <a:pPr>
                        <a:defRPr sz="1400">
                          <a:solidFill>
                            <a:srgbClr val="1A1A1A"/>
                          </a:solidFill>
                          <a:latin typeface="Calibri"/>
                        </a:defRPr>
                      </a:pPr>
                      <a:r>
                        <a:t>96</a:t>
                      </a:r>
                    </a:p>
                  </a:txBody>
                  <a:tcPr marL="91440" marR="91440" marT="27432" marB="27432" anchor="ctr">
                    <a:solidFill>
                      <a:srgbClr val="FFFFFF"/>
                    </a:solidFill>
                  </a:tcPr>
                </a:tc>
                <a:tc>
                  <a:txBody>
                    <a:bodyPr/>
                    <a:lstStyle/>
                    <a:p>
                      <a:pPr>
                        <a:defRPr sz="1400">
                          <a:solidFill>
                            <a:srgbClr val="1A1A1A"/>
                          </a:solidFill>
                          <a:latin typeface="Calibri"/>
                        </a:defRPr>
                      </a:pPr>
                      <a:r>
                        <a:t>53.33333</a:t>
                      </a:r>
                    </a:p>
                  </a:txBody>
                  <a:tcPr marL="91440" marR="91440" marT="27432" marB="27432" anchor="ctr">
                    <a:solidFill>
                      <a:srgbClr val="FFFFFF"/>
                    </a:solidFill>
                  </a:tcPr>
                </a:tc>
              </a:tr>
              <a:tr h="600075">
                <a:tc>
                  <a:txBody>
                    <a:bodyPr/>
                    <a:lstStyle/>
                    <a:p>
                      <a:pPr>
                        <a:defRPr sz="1400">
                          <a:solidFill>
                            <a:srgbClr val="1A1A1A"/>
                          </a:solidFill>
                          <a:latin typeface="Calibri"/>
                        </a:defRPr>
                      </a:pPr>
                      <a:r>
                        <a:t>Treatment completed</a:t>
                      </a:r>
                    </a:p>
                  </a:txBody>
                  <a:tcPr marL="91440" marR="91440" marT="27432" marB="27432" anchor="ctr">
                    <a:solidFill>
                      <a:srgbClr val="EDF2F7"/>
                    </a:solidFill>
                  </a:tcPr>
                </a:tc>
                <a:tc>
                  <a:txBody>
                    <a:bodyPr/>
                    <a:lstStyle/>
                    <a:p>
                      <a:pPr>
                        <a:defRPr sz="1400">
                          <a:solidFill>
                            <a:srgbClr val="1A1A1A"/>
                          </a:solidFill>
                          <a:latin typeface="Calibri"/>
                        </a:defRPr>
                      </a:pPr>
                      <a:r>
                        <a:t>30</a:t>
                      </a:r>
                    </a:p>
                  </a:txBody>
                  <a:tcPr marL="91440" marR="91440" marT="27432" marB="27432" anchor="ctr">
                    <a:solidFill>
                      <a:srgbClr val="EDF2F7"/>
                    </a:solidFill>
                  </a:tcPr>
                </a:tc>
                <a:tc>
                  <a:txBody>
                    <a:bodyPr/>
                    <a:lstStyle/>
                    <a:p>
                      <a:pPr>
                        <a:defRPr sz="1400">
                          <a:solidFill>
                            <a:srgbClr val="1A1A1A"/>
                          </a:solidFill>
                          <a:latin typeface="Calibri"/>
                        </a:defRPr>
                      </a:pPr>
                      <a:r>
                        <a:t>16.66667</a:t>
                      </a:r>
                    </a:p>
                  </a:txBody>
                  <a:tcPr marL="91440" marR="91440" marT="27432" marB="27432" anchor="ctr">
                    <a:solidFill>
                      <a:srgbClr val="EDF2F7"/>
                    </a:solidFill>
                  </a:tcPr>
                </a:tc>
              </a:tr>
              <a:tr h="600075">
                <a:tc>
                  <a:txBody>
                    <a:bodyPr/>
                    <a:lstStyle/>
                    <a:p>
                      <a:pPr>
                        <a:defRPr sz="1400">
                          <a:solidFill>
                            <a:srgbClr val="1A1A1A"/>
                          </a:solidFill>
                          <a:latin typeface="Calibri"/>
                        </a:defRPr>
                      </a:pPr>
                      <a:r>
                        <a:t>Died</a:t>
                      </a:r>
                    </a:p>
                  </a:txBody>
                  <a:tcPr marL="91440" marR="91440" marT="27432" marB="27432" anchor="ctr">
                    <a:solidFill>
                      <a:srgbClr val="FFFFFF"/>
                    </a:solidFill>
                  </a:tcPr>
                </a:tc>
                <a:tc>
                  <a:txBody>
                    <a:bodyPr/>
                    <a:lstStyle/>
                    <a:p>
                      <a:pPr>
                        <a:defRPr sz="1400">
                          <a:solidFill>
                            <a:srgbClr val="1A1A1A"/>
                          </a:solidFill>
                          <a:latin typeface="Calibri"/>
                        </a:defRPr>
                      </a:pPr>
                      <a:r>
                        <a:t>14</a:t>
                      </a:r>
                    </a:p>
                  </a:txBody>
                  <a:tcPr marL="91440" marR="91440" marT="27432" marB="27432" anchor="ctr">
                    <a:solidFill>
                      <a:srgbClr val="FFFFFF"/>
                    </a:solidFill>
                  </a:tcPr>
                </a:tc>
                <a:tc>
                  <a:txBody>
                    <a:bodyPr/>
                    <a:lstStyle/>
                    <a:p>
                      <a:pPr>
                        <a:defRPr sz="1400">
                          <a:solidFill>
                            <a:srgbClr val="1A1A1A"/>
                          </a:solidFill>
                          <a:latin typeface="Calibri"/>
                        </a:defRPr>
                      </a:pPr>
                      <a:r>
                        <a:t>7.777778</a:t>
                      </a:r>
                    </a:p>
                  </a:txBody>
                  <a:tcPr marL="91440" marR="91440" marT="27432" marB="27432" anchor="ctr">
                    <a:solidFill>
                      <a:srgbClr val="FFFFFF"/>
                    </a:solidFill>
                  </a:tcPr>
                </a:tc>
              </a:tr>
              <a:tr h="600075">
                <a:tc>
                  <a:txBody>
                    <a:bodyPr/>
                    <a:lstStyle/>
                    <a:p>
                      <a:pPr>
                        <a:defRPr sz="1400">
                          <a:solidFill>
                            <a:srgbClr val="1A1A1A"/>
                          </a:solidFill>
                          <a:latin typeface="Calibri"/>
                        </a:defRPr>
                      </a:pPr>
                      <a:r>
                        <a:t>Lost to follow up</a:t>
                      </a:r>
                    </a:p>
                  </a:txBody>
                  <a:tcPr marL="91440" marR="91440" marT="27432" marB="27432" anchor="ctr">
                    <a:solidFill>
                      <a:srgbClr val="EDF2F7"/>
                    </a:solidFill>
                  </a:tcPr>
                </a:tc>
                <a:tc>
                  <a:txBody>
                    <a:bodyPr/>
                    <a:lstStyle/>
                    <a:p>
                      <a:pPr>
                        <a:defRPr sz="1400">
                          <a:solidFill>
                            <a:srgbClr val="1A1A1A"/>
                          </a:solidFill>
                          <a:latin typeface="Calibri"/>
                        </a:defRPr>
                      </a:pPr>
                      <a:r>
                        <a:t>16</a:t>
                      </a:r>
                    </a:p>
                  </a:txBody>
                  <a:tcPr marL="91440" marR="91440" marT="27432" marB="27432" anchor="ctr">
                    <a:solidFill>
                      <a:srgbClr val="EDF2F7"/>
                    </a:solidFill>
                  </a:tcPr>
                </a:tc>
                <a:tc>
                  <a:txBody>
                    <a:bodyPr/>
                    <a:lstStyle/>
                    <a:p>
                      <a:pPr>
                        <a:defRPr sz="1400">
                          <a:solidFill>
                            <a:srgbClr val="1A1A1A"/>
                          </a:solidFill>
                          <a:latin typeface="Calibri"/>
                        </a:defRPr>
                      </a:pPr>
                      <a:r>
                        <a:t>8.888889</a:t>
                      </a:r>
                    </a:p>
                  </a:txBody>
                  <a:tcPr marL="91440" marR="91440" marT="27432" marB="27432" anchor="ctr">
                    <a:solidFill>
                      <a:srgbClr val="EDF2F7"/>
                    </a:solidFill>
                  </a:tcPr>
                </a:tc>
              </a:tr>
              <a:tr h="600075">
                <a:tc>
                  <a:txBody>
                    <a:bodyPr/>
                    <a:lstStyle/>
                    <a:p>
                      <a:pPr>
                        <a:defRPr sz="1400">
                          <a:solidFill>
                            <a:srgbClr val="1A1A1A"/>
                          </a:solidFill>
                          <a:latin typeface="Calibri"/>
                        </a:defRPr>
                      </a:pPr>
                      <a:r>
                        <a:t>Failed</a:t>
                      </a:r>
                    </a:p>
                  </a:txBody>
                  <a:tcPr marL="91440" marR="91440" marT="27432" marB="27432" anchor="ctr">
                    <a:solidFill>
                      <a:srgbClr val="FFFFFF"/>
                    </a:solidFill>
                  </a:tcPr>
                </a:tc>
                <a:tc>
                  <a:txBody>
                    <a:bodyPr/>
                    <a:lstStyle/>
                    <a:p>
                      <a:pPr>
                        <a:defRPr sz="1400">
                          <a:solidFill>
                            <a:srgbClr val="1A1A1A"/>
                          </a:solidFill>
                          <a:latin typeface="Calibri"/>
                        </a:defRPr>
                      </a:pPr>
                      <a:r>
                        <a:t>4</a:t>
                      </a:r>
                    </a:p>
                  </a:txBody>
                  <a:tcPr marL="91440" marR="91440" marT="27432" marB="27432" anchor="ctr">
                    <a:solidFill>
                      <a:srgbClr val="FFFFFF"/>
                    </a:solidFill>
                  </a:tcPr>
                </a:tc>
                <a:tc>
                  <a:txBody>
                    <a:bodyPr/>
                    <a:lstStyle/>
                    <a:p>
                      <a:pPr>
                        <a:defRPr sz="1400">
                          <a:solidFill>
                            <a:srgbClr val="1A1A1A"/>
                          </a:solidFill>
                          <a:latin typeface="Calibri"/>
                        </a:defRPr>
                      </a:pPr>
                      <a:r>
                        <a:t>2.222222</a:t>
                      </a:r>
                    </a:p>
                  </a:txBody>
                  <a:tcPr marL="91440" marR="91440" marT="27432" marB="27432" anchor="ctr">
                    <a:solidFill>
                      <a:srgbClr val="FFFFFF"/>
                    </a:solidFill>
                  </a:tcPr>
                </a:tc>
              </a:tr>
              <a:tr h="600075">
                <a:tc>
                  <a:txBody>
                    <a:bodyPr/>
                    <a:lstStyle/>
                    <a:p>
                      <a:pPr>
                        <a:defRPr sz="1400">
                          <a:solidFill>
                            <a:srgbClr val="1A1A1A"/>
                          </a:solidFill>
                          <a:latin typeface="Calibri"/>
                        </a:defRPr>
                      </a:pPr>
                      <a:r>
                        <a:t>Not evaluated</a:t>
                      </a:r>
                    </a:p>
                  </a:txBody>
                  <a:tcPr marL="91440" marR="91440" marT="27432" marB="27432" anchor="ctr">
                    <a:solidFill>
                      <a:srgbClr val="EDF2F7"/>
                    </a:solidFill>
                  </a:tcPr>
                </a:tc>
                <a:tc>
                  <a:txBody>
                    <a:bodyPr/>
                    <a:lstStyle/>
                    <a:p>
                      <a:pPr>
                        <a:defRPr sz="1400">
                          <a:solidFill>
                            <a:srgbClr val="1A1A1A"/>
                          </a:solidFill>
                          <a:latin typeface="Calibri"/>
                        </a:defRPr>
                      </a:pPr>
                      <a:r>
                        <a:t>12</a:t>
                      </a:r>
                    </a:p>
                  </a:txBody>
                  <a:tcPr marL="91440" marR="91440" marT="27432" marB="27432" anchor="ctr">
                    <a:solidFill>
                      <a:srgbClr val="EDF2F7"/>
                    </a:solidFill>
                  </a:tcPr>
                </a:tc>
                <a:tc>
                  <a:txBody>
                    <a:bodyPr/>
                    <a:lstStyle/>
                    <a:p>
                      <a:pPr>
                        <a:defRPr sz="1400">
                          <a:solidFill>
                            <a:srgbClr val="1A1A1A"/>
                          </a:solidFill>
                          <a:latin typeface="Calibri"/>
                        </a:defRPr>
                      </a:pPr>
                      <a:r>
                        <a:t>6.666667</a:t>
                      </a:r>
                    </a:p>
                  </a:txBody>
                  <a:tcPr marL="91440" marR="91440" marT="27432" marB="27432" anchor="ctr">
                    <a:solidFill>
                      <a:srgbClr val="EDF2F7"/>
                    </a:solidFill>
                  </a:tcPr>
                </a:tc>
              </a:tr>
              <a:tr h="600075">
                <a:tc>
                  <a:txBody>
                    <a:bodyPr/>
                    <a:lstStyle/>
                    <a:p>
                      <a:pPr>
                        <a:defRPr sz="1400">
                          <a:solidFill>
                            <a:srgbClr val="1A1A1A"/>
                          </a:solidFill>
                          <a:latin typeface="Calibri"/>
                        </a:defRPr>
                      </a:pPr>
                    </a:p>
                  </a:txBody>
                  <a:tcPr marL="91440" marR="91440" marT="27432" marB="27432" anchor="ctr">
                    <a:solidFill>
                      <a:srgbClr val="FFFFFF"/>
                    </a:solidFill>
                  </a:tcPr>
                </a:tc>
                <a:tc>
                  <a:txBody>
                    <a:bodyPr/>
                    <a:lstStyle/>
                    <a:p>
                      <a:pPr>
                        <a:defRPr sz="1400">
                          <a:solidFill>
                            <a:srgbClr val="1A1A1A"/>
                          </a:solidFill>
                          <a:latin typeface="Calibri"/>
                        </a:defRPr>
                      </a:pPr>
                      <a:r>
                        <a:t>180</a:t>
                      </a:r>
                    </a:p>
                  </a:txBody>
                  <a:tcPr marL="91440" marR="91440" marT="27432" marB="27432" anchor="ctr">
                    <a:solidFill>
                      <a:srgbClr val="FFFFFF"/>
                    </a:solidFill>
                  </a:tcPr>
                </a:tc>
                <a:tc>
                  <a:txBody>
                    <a:bodyPr/>
                    <a:lstStyle/>
                    <a:p>
                      <a:pPr>
                        <a:defRPr sz="1400">
                          <a:solidFill>
                            <a:srgbClr val="1A1A1A"/>
                          </a:solidFill>
                          <a:latin typeface="Calibri"/>
                        </a:defRPr>
                      </a:pPr>
                      <a:r>
                        <a:t>100</a:t>
                      </a:r>
                    </a:p>
                  </a:txBody>
                  <a:tcPr marL="91440" marR="91440" marT="27432" marB="27432"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789920" cy="274320"/>
          </a:xfrm>
          <a:prstGeom prst="rect">
            <a:avLst/>
          </a:prstGeom>
          <a:noFill/>
        </p:spPr>
        <p:txBody>
          <a:bodyPr wrap="square" anchor="t" lIns="0" rIns="0" tIns="0" bIns="0">
            <a:spAutoFit/>
          </a:bodyPr>
          <a:lstStyle/>
          <a:p>
            <a:pPr algn="l">
              <a:lnSpc>
                <a:spcPct val="100000"/>
              </a:lnSpc>
            </a:pPr>
            <a:r>
              <a:rPr sz="1050" b="1" i="0">
                <a:solidFill>
                  <a:srgbClr val="F2C14E"/>
                </a:solidFill>
                <a:latin typeface="Calibri"/>
              </a:rPr>
              <a:t>TABLES</a:t>
            </a:r>
          </a:p>
        </p:txBody>
      </p:sp>
      <p:sp>
        <p:nvSpPr>
          <p:cNvPr id="5" name="TextBox 4"/>
          <p:cNvSpPr txBox="1"/>
          <p:nvPr/>
        </p:nvSpPr>
        <p:spPr>
          <a:xfrm>
            <a:off x="685800" y="475488"/>
            <a:ext cx="10789920" cy="548640"/>
          </a:xfrm>
          <a:prstGeom prst="rect">
            <a:avLst/>
          </a:prstGeom>
          <a:noFill/>
        </p:spPr>
        <p:txBody>
          <a:bodyPr wrap="square" anchor="t" lIns="0" rIns="0" tIns="0" bIns="0">
            <a:spAutoFit/>
          </a:bodyPr>
          <a:lstStyle/>
          <a:p>
            <a:pPr algn="l">
              <a:lnSpc>
                <a:spcPct val="100000"/>
              </a:lnSpc>
            </a:pPr>
            <a:r>
              <a:rPr sz="2700" b="1" i="0">
                <a:solidFill>
                  <a:srgbClr val="FFFFFF"/>
                </a:solidFill>
                <a:latin typeface="Calibri"/>
              </a:rPr>
              <a:t>After — publishable</a:t>
            </a:r>
          </a:p>
        </p:txBody>
      </p:sp>
      <p:graphicFrame>
        <p:nvGraphicFramePr>
          <p:cNvPr id="6" name="Table 5"/>
          <p:cNvGraphicFramePr>
            <a:graphicFrameLocks noGrp="1"/>
          </p:cNvGraphicFramePr>
          <p:nvPr/>
        </p:nvGraphicFramePr>
        <p:xfrm>
          <a:off x="685800" y="1554480"/>
          <a:ext cx="10835640" cy="4800600"/>
        </p:xfrm>
        <a:graphic>
          <a:graphicData uri="http://schemas.openxmlformats.org/drawingml/2006/table">
            <a:tbl>
              <a:tblPr firstRow="1" bandRow="1">
                <a:tableStyleId>{5C22544A-7EE6-4342-B048-85BDC9FD1C3A}</a:tableStyleId>
              </a:tblPr>
              <a:tblGrid>
                <a:gridCol w="7043166"/>
                <a:gridCol w="3792474"/>
              </a:tblGrid>
              <a:tr h="480060">
                <a:tc>
                  <a:txBody>
                    <a:bodyPr/>
                    <a:lstStyle/>
                    <a:p>
                      <a:pPr>
                        <a:defRPr sz="1500" b="1">
                          <a:solidFill>
                            <a:srgbClr val="FFFFFF"/>
                          </a:solidFill>
                          <a:latin typeface="Calibri"/>
                        </a:defRPr>
                      </a:pPr>
                      <a:r>
                        <a:t>Treatment outcome</a:t>
                      </a:r>
                    </a:p>
                  </a:txBody>
                  <a:tcPr marL="91440" marR="91440" anchor="ctr">
                    <a:solidFill>
                      <a:srgbClr val="1F3864"/>
                    </a:solidFill>
                  </a:tcPr>
                </a:tc>
                <a:tc>
                  <a:txBody>
                    <a:bodyPr/>
                    <a:lstStyle/>
                    <a:p>
                      <a:pPr>
                        <a:defRPr sz="1500" b="1">
                          <a:solidFill>
                            <a:srgbClr val="FFFFFF"/>
                          </a:solidFill>
                          <a:latin typeface="Calibri"/>
                        </a:defRPr>
                      </a:pPr>
                      <a:r>
                        <a:t>n (%)</a:t>
                      </a:r>
                    </a:p>
                  </a:txBody>
                  <a:tcPr marL="91440" marR="91440" anchor="ctr">
                    <a:solidFill>
                      <a:srgbClr val="1F3864"/>
                    </a:solidFill>
                  </a:tcPr>
                </a:tc>
              </a:tr>
              <a:tr h="480060">
                <a:tc>
                  <a:txBody>
                    <a:bodyPr/>
                    <a:lstStyle/>
                    <a:p>
                      <a:pPr>
                        <a:defRPr sz="1400">
                          <a:solidFill>
                            <a:srgbClr val="1A1A1A"/>
                          </a:solidFill>
                          <a:latin typeface="Calibri"/>
                        </a:defRPr>
                      </a:pPr>
                      <a:r>
                        <a:t>Cured</a:t>
                      </a:r>
                    </a:p>
                  </a:txBody>
                  <a:tcPr marL="91440" marR="91440" marT="27432" marB="27432" anchor="ctr">
                    <a:solidFill>
                      <a:srgbClr val="FFFFFF"/>
                    </a:solidFill>
                  </a:tcPr>
                </a:tc>
                <a:tc>
                  <a:txBody>
                    <a:bodyPr/>
                    <a:lstStyle/>
                    <a:p>
                      <a:pPr>
                        <a:defRPr sz="1400">
                          <a:solidFill>
                            <a:srgbClr val="1A1A1A"/>
                          </a:solidFill>
                          <a:latin typeface="Calibri"/>
                        </a:defRPr>
                      </a:pPr>
                      <a:r>
                        <a:t>96 (53.3)</a:t>
                      </a:r>
                    </a:p>
                  </a:txBody>
                  <a:tcPr marL="91440" marR="91440" marT="27432" marB="27432" anchor="ctr">
                    <a:solidFill>
                      <a:srgbClr val="FFFFFF"/>
                    </a:solidFill>
                  </a:tcPr>
                </a:tc>
              </a:tr>
              <a:tr h="480060">
                <a:tc>
                  <a:txBody>
                    <a:bodyPr/>
                    <a:lstStyle/>
                    <a:p>
                      <a:pPr>
                        <a:defRPr sz="1400">
                          <a:solidFill>
                            <a:srgbClr val="1A1A1A"/>
                          </a:solidFill>
                          <a:latin typeface="Calibri"/>
                        </a:defRPr>
                      </a:pPr>
                      <a:r>
                        <a:t>Treatment completed</a:t>
                      </a:r>
                    </a:p>
                  </a:txBody>
                  <a:tcPr marL="91440" marR="91440" marT="27432" marB="27432" anchor="ctr">
                    <a:solidFill>
                      <a:srgbClr val="EDF2F7"/>
                    </a:solidFill>
                  </a:tcPr>
                </a:tc>
                <a:tc>
                  <a:txBody>
                    <a:bodyPr/>
                    <a:lstStyle/>
                    <a:p>
                      <a:pPr>
                        <a:defRPr sz="1400">
                          <a:solidFill>
                            <a:srgbClr val="1A1A1A"/>
                          </a:solidFill>
                          <a:latin typeface="Calibri"/>
                        </a:defRPr>
                      </a:pPr>
                      <a:r>
                        <a:t>30 (16.7)</a:t>
                      </a:r>
                    </a:p>
                  </a:txBody>
                  <a:tcPr marL="91440" marR="91440" marT="27432" marB="27432" anchor="ctr">
                    <a:solidFill>
                      <a:srgbClr val="EDF2F7"/>
                    </a:solidFill>
                  </a:tcPr>
                </a:tc>
              </a:tr>
              <a:tr h="480060">
                <a:tc>
                  <a:txBody>
                    <a:bodyPr/>
                    <a:lstStyle/>
                    <a:p>
                      <a:pPr>
                        <a:defRPr sz="1400" b="1">
                          <a:solidFill>
                            <a:srgbClr val="1F3864"/>
                          </a:solidFill>
                          <a:latin typeface="Calibri"/>
                        </a:defRPr>
                      </a:pPr>
                      <a:r>
                        <a:t>Treatment success</a:t>
                      </a:r>
                    </a:p>
                  </a:txBody>
                  <a:tcPr marL="91440" marR="91440" marT="27432" marB="27432" anchor="ctr">
                    <a:solidFill>
                      <a:srgbClr val="FFFFFF"/>
                    </a:solidFill>
                  </a:tcPr>
                </a:tc>
                <a:tc>
                  <a:txBody>
                    <a:bodyPr/>
                    <a:lstStyle/>
                    <a:p>
                      <a:pPr>
                        <a:defRPr sz="1400" b="1">
                          <a:solidFill>
                            <a:srgbClr val="1F3864"/>
                          </a:solidFill>
                          <a:latin typeface="Calibri"/>
                        </a:defRPr>
                      </a:pPr>
                      <a:r>
                        <a:t>126 (70.0)</a:t>
                      </a:r>
                    </a:p>
                  </a:txBody>
                  <a:tcPr marL="91440" marR="91440" marT="27432" marB="27432" anchor="ctr">
                    <a:solidFill>
                      <a:srgbClr val="FFFFFF"/>
                    </a:solidFill>
                  </a:tcPr>
                </a:tc>
              </a:tr>
              <a:tr h="480060">
                <a:tc>
                  <a:txBody>
                    <a:bodyPr/>
                    <a:lstStyle/>
                    <a:p>
                      <a:pPr>
                        <a:defRPr sz="1400">
                          <a:solidFill>
                            <a:srgbClr val="1A1A1A"/>
                          </a:solidFill>
                          <a:latin typeface="Calibri"/>
                        </a:defRPr>
                      </a:pPr>
                      <a:r>
                        <a:t>Died</a:t>
                      </a:r>
                    </a:p>
                  </a:txBody>
                  <a:tcPr marL="91440" marR="91440" marT="27432" marB="27432" anchor="ctr">
                    <a:solidFill>
                      <a:srgbClr val="EDF2F7"/>
                    </a:solidFill>
                  </a:tcPr>
                </a:tc>
                <a:tc>
                  <a:txBody>
                    <a:bodyPr/>
                    <a:lstStyle/>
                    <a:p>
                      <a:pPr>
                        <a:defRPr sz="1400">
                          <a:solidFill>
                            <a:srgbClr val="1A1A1A"/>
                          </a:solidFill>
                          <a:latin typeface="Calibri"/>
                        </a:defRPr>
                      </a:pPr>
                      <a:r>
                        <a:t>14 (7.8)</a:t>
                      </a:r>
                    </a:p>
                  </a:txBody>
                  <a:tcPr marL="91440" marR="91440" marT="27432" marB="27432" anchor="ctr">
                    <a:solidFill>
                      <a:srgbClr val="EDF2F7"/>
                    </a:solidFill>
                  </a:tcPr>
                </a:tc>
              </a:tr>
              <a:tr h="480060">
                <a:tc>
                  <a:txBody>
                    <a:bodyPr/>
                    <a:lstStyle/>
                    <a:p>
                      <a:pPr>
                        <a:defRPr sz="1400">
                          <a:solidFill>
                            <a:srgbClr val="1A1A1A"/>
                          </a:solidFill>
                          <a:latin typeface="Calibri"/>
                        </a:defRPr>
                      </a:pPr>
                      <a:r>
                        <a:t>Lost to follow-up</a:t>
                      </a:r>
                    </a:p>
                  </a:txBody>
                  <a:tcPr marL="91440" marR="91440" marT="27432" marB="27432" anchor="ctr">
                    <a:solidFill>
                      <a:srgbClr val="FFFFFF"/>
                    </a:solidFill>
                  </a:tcPr>
                </a:tc>
                <a:tc>
                  <a:txBody>
                    <a:bodyPr/>
                    <a:lstStyle/>
                    <a:p>
                      <a:pPr>
                        <a:defRPr sz="1400">
                          <a:solidFill>
                            <a:srgbClr val="1A1A1A"/>
                          </a:solidFill>
                          <a:latin typeface="Calibri"/>
                        </a:defRPr>
                      </a:pPr>
                      <a:r>
                        <a:t>16 (8.9)</a:t>
                      </a:r>
                    </a:p>
                  </a:txBody>
                  <a:tcPr marL="91440" marR="91440" marT="27432" marB="27432" anchor="ctr">
                    <a:solidFill>
                      <a:srgbClr val="FFFFFF"/>
                    </a:solidFill>
                  </a:tcPr>
                </a:tc>
              </a:tr>
              <a:tr h="480060">
                <a:tc>
                  <a:txBody>
                    <a:bodyPr/>
                    <a:lstStyle/>
                    <a:p>
                      <a:pPr>
                        <a:defRPr sz="1400">
                          <a:solidFill>
                            <a:srgbClr val="1A1A1A"/>
                          </a:solidFill>
                          <a:latin typeface="Calibri"/>
                        </a:defRPr>
                      </a:pPr>
                      <a:r>
                        <a:t>Treatment failed</a:t>
                      </a:r>
                    </a:p>
                  </a:txBody>
                  <a:tcPr marL="91440" marR="91440" marT="27432" marB="27432" anchor="ctr">
                    <a:solidFill>
                      <a:srgbClr val="EDF2F7"/>
                    </a:solidFill>
                  </a:tcPr>
                </a:tc>
                <a:tc>
                  <a:txBody>
                    <a:bodyPr/>
                    <a:lstStyle/>
                    <a:p>
                      <a:pPr>
                        <a:defRPr sz="1400">
                          <a:solidFill>
                            <a:srgbClr val="1A1A1A"/>
                          </a:solidFill>
                          <a:latin typeface="Calibri"/>
                        </a:defRPr>
                      </a:pPr>
                      <a:r>
                        <a:t>4 (2.2)</a:t>
                      </a:r>
                    </a:p>
                  </a:txBody>
                  <a:tcPr marL="91440" marR="91440" marT="27432" marB="27432" anchor="ctr">
                    <a:solidFill>
                      <a:srgbClr val="EDF2F7"/>
                    </a:solidFill>
                  </a:tcPr>
                </a:tc>
              </a:tr>
              <a:tr h="480060">
                <a:tc>
                  <a:txBody>
                    <a:bodyPr/>
                    <a:lstStyle/>
                    <a:p>
                      <a:pPr>
                        <a:defRPr sz="1400">
                          <a:solidFill>
                            <a:srgbClr val="1A1A1A"/>
                          </a:solidFill>
                          <a:latin typeface="Calibri"/>
                        </a:defRPr>
                      </a:pPr>
                      <a:r>
                        <a:t>Not evaluated (transferred out)</a:t>
                      </a:r>
                    </a:p>
                  </a:txBody>
                  <a:tcPr marL="91440" marR="91440" marT="27432" marB="27432" anchor="ctr">
                    <a:solidFill>
                      <a:srgbClr val="FFFFFF"/>
                    </a:solidFill>
                  </a:tcPr>
                </a:tc>
                <a:tc>
                  <a:txBody>
                    <a:bodyPr/>
                    <a:lstStyle/>
                    <a:p>
                      <a:pPr>
                        <a:defRPr sz="1400">
                          <a:solidFill>
                            <a:srgbClr val="1A1A1A"/>
                          </a:solidFill>
                          <a:latin typeface="Calibri"/>
                        </a:defRPr>
                      </a:pPr>
                      <a:r>
                        <a:t>12 (6.7)</a:t>
                      </a:r>
                    </a:p>
                  </a:txBody>
                  <a:tcPr marL="91440" marR="91440" marT="27432" marB="27432" anchor="ctr">
                    <a:solidFill>
                      <a:srgbClr val="FFFFFF"/>
                    </a:solidFill>
                  </a:tcPr>
                </a:tc>
              </a:tr>
              <a:tr h="480060">
                <a:tc>
                  <a:txBody>
                    <a:bodyPr/>
                    <a:lstStyle/>
                    <a:p>
                      <a:pPr>
                        <a:defRPr sz="1400">
                          <a:solidFill>
                            <a:srgbClr val="1A1A1A"/>
                          </a:solidFill>
                          <a:latin typeface="Calibri"/>
                        </a:defRPr>
                      </a:pPr>
                      <a:r>
                        <a:t>Still on treatment</a:t>
                      </a:r>
                    </a:p>
                  </a:txBody>
                  <a:tcPr marL="91440" marR="91440" marT="27432" marB="27432" anchor="ctr">
                    <a:solidFill>
                      <a:srgbClr val="EDF2F7"/>
                    </a:solidFill>
                  </a:tcPr>
                </a:tc>
                <a:tc>
                  <a:txBody>
                    <a:bodyPr/>
                    <a:lstStyle/>
                    <a:p>
                      <a:pPr>
                        <a:defRPr sz="1400">
                          <a:solidFill>
                            <a:srgbClr val="1A1A1A"/>
                          </a:solidFill>
                          <a:latin typeface="Calibri"/>
                        </a:defRPr>
                      </a:pPr>
                      <a:r>
                        <a:t>8 (4.4)</a:t>
                      </a:r>
                    </a:p>
                  </a:txBody>
                  <a:tcPr marL="91440" marR="91440" marT="27432" marB="27432" anchor="ctr">
                    <a:solidFill>
                      <a:srgbClr val="EDF2F7"/>
                    </a:solidFill>
                  </a:tcPr>
                </a:tc>
              </a:tr>
              <a:tr h="480060">
                <a:tc>
                  <a:txBody>
                    <a:bodyPr/>
                    <a:lstStyle/>
                    <a:p>
                      <a:pPr>
                        <a:defRPr sz="1400" b="1">
                          <a:solidFill>
                            <a:srgbClr val="1F3864"/>
                          </a:solidFill>
                          <a:latin typeface="Calibri"/>
                        </a:defRPr>
                      </a:pPr>
                      <a:r>
                        <a:t>Total</a:t>
                      </a:r>
                    </a:p>
                  </a:txBody>
                  <a:tcPr marL="91440" marR="91440" marT="27432" marB="27432" anchor="ctr">
                    <a:solidFill>
                      <a:srgbClr val="FFFFFF"/>
                    </a:solidFill>
                  </a:tcPr>
                </a:tc>
                <a:tc>
                  <a:txBody>
                    <a:bodyPr/>
                    <a:lstStyle/>
                    <a:p>
                      <a:pPr>
                        <a:defRPr sz="1400" b="1">
                          <a:solidFill>
                            <a:srgbClr val="1F3864"/>
                          </a:solidFill>
                          <a:latin typeface="Calibri"/>
                        </a:defRPr>
                      </a:pPr>
                      <a:r>
                        <a:t>180 (100.0)</a:t>
                      </a:r>
                    </a:p>
                  </a:txBody>
                  <a:tcPr marL="91440" marR="91440" marT="27432" marB="27432"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914400"/>
          </a:xfrm>
          <a:prstGeom prst="rect">
            <a:avLst/>
          </a:prstGeom>
          <a:noFill/>
        </p:spPr>
        <p:txBody>
          <a:bodyPr wrap="square" anchor="t" lIns="0" rIns="0" tIns="0" bIns="0">
            <a:spAutoFit/>
          </a:bodyPr>
          <a:lstStyle/>
          <a:p>
            <a:pPr algn="l">
              <a:lnSpc>
                <a:spcPct val="100000"/>
              </a:lnSpc>
            </a:pPr>
            <a:r>
              <a:rPr sz="1500" b="1" i="0">
                <a:solidFill>
                  <a:srgbClr val="B8E4DD"/>
                </a:solidFill>
                <a:latin typeface="Calibri"/>
              </a:rPr>
              <a:t>Part 2</a:t>
            </a:r>
          </a:p>
        </p:txBody>
      </p:sp>
      <p:sp>
        <p:nvSpPr>
          <p:cNvPr id="4" name="TextBox 3"/>
          <p:cNvSpPr txBox="1"/>
          <p:nvPr/>
        </p:nvSpPr>
        <p:spPr>
          <a:xfrm>
            <a:off x="822960" y="2606040"/>
            <a:ext cx="10515600" cy="1645920"/>
          </a:xfrm>
          <a:prstGeom prst="rect">
            <a:avLst/>
          </a:prstGeom>
          <a:noFill/>
        </p:spPr>
        <p:txBody>
          <a:bodyPr wrap="square" anchor="t" lIns="0" rIns="0" tIns="0" bIns="0">
            <a:spAutoFit/>
          </a:bodyPr>
          <a:lstStyle/>
          <a:p>
            <a:pPr algn="l">
              <a:lnSpc>
                <a:spcPct val="105000"/>
              </a:lnSpc>
            </a:pPr>
            <a:r>
              <a:rPr sz="4200" b="1" i="0">
                <a:solidFill>
                  <a:srgbClr val="FFFFFF"/>
                </a:solidFill>
                <a:latin typeface="Calibri"/>
              </a:rPr>
              <a:t>Graphs</a:t>
            </a:r>
          </a:p>
        </p:txBody>
      </p:sp>
      <p:sp>
        <p:nvSpPr>
          <p:cNvPr id="5" name="TextBox 4"/>
          <p:cNvSpPr txBox="1"/>
          <p:nvPr/>
        </p:nvSpPr>
        <p:spPr>
          <a:xfrm>
            <a:off x="822960" y="4160520"/>
            <a:ext cx="9601200" cy="914400"/>
          </a:xfrm>
          <a:prstGeom prst="rect">
            <a:avLst/>
          </a:prstGeom>
          <a:noFill/>
        </p:spPr>
        <p:txBody>
          <a:bodyPr wrap="square" anchor="t" lIns="0" rIns="0" tIns="0" bIns="0">
            <a:spAutoFit/>
          </a:bodyPr>
          <a:lstStyle/>
          <a:p>
            <a:pPr algn="l">
              <a:lnSpc>
                <a:spcPct val="100000"/>
              </a:lnSpc>
            </a:pPr>
            <a:r>
              <a:rPr sz="1900" b="0" i="1">
                <a:solidFill>
                  <a:srgbClr val="D6EFEA"/>
                </a:solidFill>
                <a:latin typeface="Calibri"/>
              </a:rPr>
              <a:t>Pick the chart that answers your question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789920" cy="274320"/>
          </a:xfrm>
          <a:prstGeom prst="rect">
            <a:avLst/>
          </a:prstGeom>
          <a:noFill/>
        </p:spPr>
        <p:txBody>
          <a:bodyPr wrap="square" anchor="t" lIns="0" rIns="0" tIns="0" bIns="0">
            <a:spAutoFit/>
          </a:bodyPr>
          <a:lstStyle/>
          <a:p>
            <a:pPr algn="l">
              <a:lnSpc>
                <a:spcPct val="100000"/>
              </a:lnSpc>
            </a:pPr>
            <a:r>
              <a:rPr sz="1050" b="1" i="0">
                <a:solidFill>
                  <a:srgbClr val="F2C14E"/>
                </a:solidFill>
                <a:latin typeface="Calibri"/>
              </a:rPr>
              <a:t>GRAPHS</a:t>
            </a:r>
          </a:p>
        </p:txBody>
      </p:sp>
      <p:sp>
        <p:nvSpPr>
          <p:cNvPr id="5" name="TextBox 4"/>
          <p:cNvSpPr txBox="1"/>
          <p:nvPr/>
        </p:nvSpPr>
        <p:spPr>
          <a:xfrm>
            <a:off x="685800" y="475488"/>
            <a:ext cx="10789920" cy="548640"/>
          </a:xfrm>
          <a:prstGeom prst="rect">
            <a:avLst/>
          </a:prstGeom>
          <a:noFill/>
        </p:spPr>
        <p:txBody>
          <a:bodyPr wrap="square" anchor="t" lIns="0" rIns="0" tIns="0" bIns="0">
            <a:spAutoFit/>
          </a:bodyPr>
          <a:lstStyle/>
          <a:p>
            <a:pPr algn="l">
              <a:lnSpc>
                <a:spcPct val="100000"/>
              </a:lnSpc>
            </a:pPr>
            <a:r>
              <a:rPr sz="2700" b="1" i="0">
                <a:solidFill>
                  <a:srgbClr val="FFFFFF"/>
                </a:solidFill>
                <a:latin typeface="Calibri"/>
              </a:rPr>
              <a:t>Which chart? Read across.</a:t>
            </a:r>
          </a:p>
        </p:txBody>
      </p:sp>
      <p:graphicFrame>
        <p:nvGraphicFramePr>
          <p:cNvPr id="6" name="Table 5"/>
          <p:cNvGraphicFramePr>
            <a:graphicFrameLocks noGrp="1"/>
          </p:cNvGraphicFramePr>
          <p:nvPr/>
        </p:nvGraphicFramePr>
        <p:xfrm>
          <a:off x="685800" y="1554480"/>
          <a:ext cx="10835638" cy="4800600"/>
        </p:xfrm>
        <a:graphic>
          <a:graphicData uri="http://schemas.openxmlformats.org/drawingml/2006/table">
            <a:tbl>
              <a:tblPr firstRow="1" bandRow="1">
                <a:tableStyleId>{5C22544A-7EE6-4342-B048-85BDC9FD1C3A}</a:tableStyleId>
              </a:tblPr>
              <a:tblGrid>
                <a:gridCol w="5634532"/>
                <a:gridCol w="2817266"/>
                <a:gridCol w="2383840"/>
              </a:tblGrid>
              <a:tr h="600075">
                <a:tc>
                  <a:txBody>
                    <a:bodyPr/>
                    <a:lstStyle/>
                    <a:p>
                      <a:pPr>
                        <a:defRPr sz="1500" b="1">
                          <a:solidFill>
                            <a:srgbClr val="FFFFFF"/>
                          </a:solidFill>
                          <a:latin typeface="Calibri"/>
                        </a:defRPr>
                      </a:pPr>
                      <a:r>
                        <a:t>My question is…</a:t>
                      </a:r>
                    </a:p>
                  </a:txBody>
                  <a:tcPr marL="91440" marR="91440" anchor="ctr">
                    <a:solidFill>
                      <a:srgbClr val="1F3864"/>
                    </a:solidFill>
                  </a:tcPr>
                </a:tc>
                <a:tc>
                  <a:txBody>
                    <a:bodyPr/>
                    <a:lstStyle/>
                    <a:p>
                      <a:pPr>
                        <a:defRPr sz="1500" b="1">
                          <a:solidFill>
                            <a:srgbClr val="FFFFFF"/>
                          </a:solidFill>
                          <a:latin typeface="Calibri"/>
                        </a:defRPr>
                      </a:pPr>
                      <a:r>
                        <a:t>Use</a:t>
                      </a:r>
                    </a:p>
                  </a:txBody>
                  <a:tcPr marL="91440" marR="91440" anchor="ctr">
                    <a:solidFill>
                      <a:srgbClr val="1F3864"/>
                    </a:solidFill>
                  </a:tcPr>
                </a:tc>
                <a:tc>
                  <a:txBody>
                    <a:bodyPr/>
                    <a:lstStyle/>
                    <a:p>
                      <a:pPr>
                        <a:defRPr sz="1500" b="1">
                          <a:solidFill>
                            <a:srgbClr val="FFFFFF"/>
                          </a:solidFill>
                          <a:latin typeface="Calibri"/>
                        </a:defRPr>
                      </a:pPr>
                      <a:r>
                        <a:t>Not</a:t>
                      </a:r>
                    </a:p>
                  </a:txBody>
                  <a:tcPr marL="91440" marR="91440" anchor="ctr">
                    <a:solidFill>
                      <a:srgbClr val="1F3864"/>
                    </a:solidFill>
                  </a:tcPr>
                </a:tc>
              </a:tr>
              <a:tr h="600075">
                <a:tc>
                  <a:txBody>
                    <a:bodyPr/>
                    <a:lstStyle/>
                    <a:p>
                      <a:pPr>
                        <a:defRPr sz="1500">
                          <a:solidFill>
                            <a:srgbClr val="1A1A1A"/>
                          </a:solidFill>
                          <a:latin typeface="Calibri"/>
                        </a:defRPr>
                      </a:pPr>
                      <a:r>
                        <a:t>How many in each category?</a:t>
                      </a:r>
                    </a:p>
                  </a:txBody>
                  <a:tcPr marL="91440" marR="91440" marT="27432" marB="27432" anchor="ctr">
                    <a:solidFill>
                      <a:srgbClr val="FFFFFF"/>
                    </a:solidFill>
                  </a:tcPr>
                </a:tc>
                <a:tc>
                  <a:txBody>
                    <a:bodyPr/>
                    <a:lstStyle/>
                    <a:p>
                      <a:pPr>
                        <a:defRPr sz="1500" b="1">
                          <a:solidFill>
                            <a:srgbClr val="1F3864"/>
                          </a:solidFill>
                          <a:latin typeface="Calibri"/>
                        </a:defRPr>
                      </a:pPr>
                      <a:r>
                        <a:t>Bar chart</a:t>
                      </a:r>
                    </a:p>
                  </a:txBody>
                  <a:tcPr marL="91440" marR="91440" marT="27432" marB="27432" anchor="ctr">
                    <a:solidFill>
                      <a:srgbClr val="FFFFFF"/>
                    </a:solidFill>
                  </a:tcPr>
                </a:tc>
                <a:tc>
                  <a:txBody>
                    <a:bodyPr/>
                    <a:lstStyle/>
                    <a:p>
                      <a:pPr>
                        <a:defRPr sz="1500">
                          <a:solidFill>
                            <a:srgbClr val="1A1A1A"/>
                          </a:solidFill>
                          <a:latin typeface="Calibri"/>
                        </a:defRPr>
                      </a:pPr>
                      <a:r>
                        <a:t>Pie chart</a:t>
                      </a:r>
                    </a:p>
                  </a:txBody>
                  <a:tcPr marL="91440" marR="91440" marT="27432" marB="27432" anchor="ctr">
                    <a:solidFill>
                      <a:srgbClr val="FFFFFF"/>
                    </a:solidFill>
                  </a:tcPr>
                </a:tc>
              </a:tr>
              <a:tr h="600075">
                <a:tc>
                  <a:txBody>
                    <a:bodyPr/>
                    <a:lstStyle/>
                    <a:p>
                      <a:pPr>
                        <a:defRPr sz="1500">
                          <a:solidFill>
                            <a:srgbClr val="1A1A1A"/>
                          </a:solidFill>
                          <a:latin typeface="Calibri"/>
                        </a:defRPr>
                      </a:pPr>
                      <a:r>
                        <a:t>How is one continuous variable spread?</a:t>
                      </a:r>
                    </a:p>
                  </a:txBody>
                  <a:tcPr marL="91440" marR="91440" marT="27432" marB="27432" anchor="ctr">
                    <a:solidFill>
                      <a:srgbClr val="EDF2F7"/>
                    </a:solidFill>
                  </a:tcPr>
                </a:tc>
                <a:tc>
                  <a:txBody>
                    <a:bodyPr/>
                    <a:lstStyle/>
                    <a:p>
                      <a:pPr>
                        <a:defRPr sz="1500" b="1">
                          <a:solidFill>
                            <a:srgbClr val="1F3864"/>
                          </a:solidFill>
                          <a:latin typeface="Calibri"/>
                        </a:defRPr>
                      </a:pPr>
                      <a:r>
                        <a:t>Histogram</a:t>
                      </a:r>
                    </a:p>
                  </a:txBody>
                  <a:tcPr marL="91440" marR="91440" marT="27432" marB="27432" anchor="ctr">
                    <a:solidFill>
                      <a:srgbClr val="EDF2F7"/>
                    </a:solidFill>
                  </a:tcPr>
                </a:tc>
                <a:tc>
                  <a:txBody>
                    <a:bodyPr/>
                    <a:lstStyle/>
                    <a:p>
                      <a:pPr>
                        <a:defRPr sz="1500">
                          <a:solidFill>
                            <a:srgbClr val="1A1A1A"/>
                          </a:solidFill>
                          <a:latin typeface="Calibri"/>
                        </a:defRPr>
                      </a:pPr>
                      <a:r>
                        <a:t>Bar chart</a:t>
                      </a:r>
                    </a:p>
                  </a:txBody>
                  <a:tcPr marL="91440" marR="91440" marT="27432" marB="27432" anchor="ctr">
                    <a:solidFill>
                      <a:srgbClr val="EDF2F7"/>
                    </a:solidFill>
                  </a:tcPr>
                </a:tc>
              </a:tr>
              <a:tr h="600075">
                <a:tc>
                  <a:txBody>
                    <a:bodyPr/>
                    <a:lstStyle/>
                    <a:p>
                      <a:pPr>
                        <a:defRPr sz="1500">
                          <a:solidFill>
                            <a:srgbClr val="1A1A1A"/>
                          </a:solidFill>
                          <a:latin typeface="Calibri"/>
                        </a:defRPr>
                      </a:pPr>
                      <a:r>
                        <a:t>How does it change over time?</a:t>
                      </a:r>
                    </a:p>
                  </a:txBody>
                  <a:tcPr marL="91440" marR="91440" marT="27432" marB="27432" anchor="ctr">
                    <a:solidFill>
                      <a:srgbClr val="FFFFFF"/>
                    </a:solidFill>
                  </a:tcPr>
                </a:tc>
                <a:tc>
                  <a:txBody>
                    <a:bodyPr/>
                    <a:lstStyle/>
                    <a:p>
                      <a:pPr>
                        <a:defRPr sz="1500" b="1">
                          <a:solidFill>
                            <a:srgbClr val="1F3864"/>
                          </a:solidFill>
                          <a:latin typeface="Calibri"/>
                        </a:defRPr>
                      </a:pPr>
                      <a:r>
                        <a:t>Line chart</a:t>
                      </a:r>
                    </a:p>
                  </a:txBody>
                  <a:tcPr marL="91440" marR="91440" marT="27432" marB="27432" anchor="ctr">
                    <a:solidFill>
                      <a:srgbClr val="FFFFFF"/>
                    </a:solidFill>
                  </a:tcPr>
                </a:tc>
                <a:tc>
                  <a:txBody>
                    <a:bodyPr/>
                    <a:lstStyle/>
                    <a:p>
                      <a:pPr>
                        <a:defRPr sz="1500">
                          <a:solidFill>
                            <a:srgbClr val="1A1A1A"/>
                          </a:solidFill>
                          <a:latin typeface="Calibri"/>
                        </a:defRPr>
                      </a:pPr>
                      <a:r>
                        <a:t>Bar chart</a:t>
                      </a:r>
                    </a:p>
                  </a:txBody>
                  <a:tcPr marL="91440" marR="91440" marT="27432" marB="27432" anchor="ctr">
                    <a:solidFill>
                      <a:srgbClr val="FFFFFF"/>
                    </a:solidFill>
                  </a:tcPr>
                </a:tc>
              </a:tr>
              <a:tr h="600075">
                <a:tc>
                  <a:txBody>
                    <a:bodyPr/>
                    <a:lstStyle/>
                    <a:p>
                      <a:pPr>
                        <a:defRPr sz="1500">
                          <a:solidFill>
                            <a:srgbClr val="1A1A1A"/>
                          </a:solidFill>
                          <a:latin typeface="Calibri"/>
                        </a:defRPr>
                      </a:pPr>
                      <a:r>
                        <a:t>How do groups compare on a distribution?</a:t>
                      </a:r>
                    </a:p>
                  </a:txBody>
                  <a:tcPr marL="91440" marR="91440" marT="27432" marB="27432" anchor="ctr">
                    <a:solidFill>
                      <a:srgbClr val="EDF2F7"/>
                    </a:solidFill>
                  </a:tcPr>
                </a:tc>
                <a:tc>
                  <a:txBody>
                    <a:bodyPr/>
                    <a:lstStyle/>
                    <a:p>
                      <a:pPr>
                        <a:defRPr sz="1500" b="1">
                          <a:solidFill>
                            <a:srgbClr val="1F3864"/>
                          </a:solidFill>
                          <a:latin typeface="Calibri"/>
                        </a:defRPr>
                      </a:pPr>
                      <a:r>
                        <a:t>Box plot</a:t>
                      </a:r>
                    </a:p>
                  </a:txBody>
                  <a:tcPr marL="91440" marR="91440" marT="27432" marB="27432" anchor="ctr">
                    <a:solidFill>
                      <a:srgbClr val="EDF2F7"/>
                    </a:solidFill>
                  </a:tcPr>
                </a:tc>
                <a:tc>
                  <a:txBody>
                    <a:bodyPr/>
                    <a:lstStyle/>
                    <a:p>
                      <a:pPr>
                        <a:defRPr sz="1500">
                          <a:solidFill>
                            <a:srgbClr val="1A1A1A"/>
                          </a:solidFill>
                          <a:latin typeface="Calibri"/>
                        </a:defRPr>
                      </a:pPr>
                      <a:r>
                        <a:t>Bar of means</a:t>
                      </a:r>
                    </a:p>
                  </a:txBody>
                  <a:tcPr marL="91440" marR="91440" marT="27432" marB="27432" anchor="ctr">
                    <a:solidFill>
                      <a:srgbClr val="EDF2F7"/>
                    </a:solidFill>
                  </a:tcPr>
                </a:tc>
              </a:tr>
              <a:tr h="600075">
                <a:tc>
                  <a:txBody>
                    <a:bodyPr/>
                    <a:lstStyle/>
                    <a:p>
                      <a:pPr>
                        <a:defRPr sz="1500">
                          <a:solidFill>
                            <a:srgbClr val="1A1A1A"/>
                          </a:solidFill>
                          <a:latin typeface="Calibri"/>
                        </a:defRPr>
                      </a:pPr>
                      <a:r>
                        <a:t>Is there a relationship between two continuous variables?</a:t>
                      </a:r>
                    </a:p>
                  </a:txBody>
                  <a:tcPr marL="91440" marR="91440" marT="27432" marB="27432" anchor="ctr">
                    <a:solidFill>
                      <a:srgbClr val="FFFFFF"/>
                    </a:solidFill>
                  </a:tcPr>
                </a:tc>
                <a:tc>
                  <a:txBody>
                    <a:bodyPr/>
                    <a:lstStyle/>
                    <a:p>
                      <a:pPr>
                        <a:defRPr sz="1500" b="1">
                          <a:solidFill>
                            <a:srgbClr val="1F3864"/>
                          </a:solidFill>
                          <a:latin typeface="Calibri"/>
                        </a:defRPr>
                      </a:pPr>
                      <a:r>
                        <a:t>Scatter plot</a:t>
                      </a:r>
                    </a:p>
                  </a:txBody>
                  <a:tcPr marL="91440" marR="91440" marT="27432" marB="27432" anchor="ctr">
                    <a:solidFill>
                      <a:srgbClr val="FFFFFF"/>
                    </a:solidFill>
                  </a:tcPr>
                </a:tc>
                <a:tc>
                  <a:txBody>
                    <a:bodyPr/>
                    <a:lstStyle/>
                    <a:p>
                      <a:pPr>
                        <a:defRPr sz="1500">
                          <a:solidFill>
                            <a:srgbClr val="1A1A1A"/>
                          </a:solidFill>
                          <a:latin typeface="Calibri"/>
                        </a:defRPr>
                      </a:pPr>
                      <a:r>
                        <a:t>Line chart</a:t>
                      </a:r>
                    </a:p>
                  </a:txBody>
                  <a:tcPr marL="91440" marR="91440" marT="27432" marB="27432" anchor="ctr">
                    <a:solidFill>
                      <a:srgbClr val="FFFFFF"/>
                    </a:solidFill>
                  </a:tcPr>
                </a:tc>
              </a:tr>
              <a:tr h="600075">
                <a:tc>
                  <a:txBody>
                    <a:bodyPr/>
                    <a:lstStyle/>
                    <a:p>
                      <a:pPr>
                        <a:defRPr sz="1500">
                          <a:solidFill>
                            <a:srgbClr val="1A1A1A"/>
                          </a:solidFill>
                          <a:latin typeface="Calibri"/>
                        </a:defRPr>
                      </a:pPr>
                      <a:r>
                        <a:t>What proportion of a whole, across groups?</a:t>
                      </a:r>
                    </a:p>
                  </a:txBody>
                  <a:tcPr marL="91440" marR="91440" marT="27432" marB="27432" anchor="ctr">
                    <a:solidFill>
                      <a:srgbClr val="EDF2F7"/>
                    </a:solidFill>
                  </a:tcPr>
                </a:tc>
                <a:tc>
                  <a:txBody>
                    <a:bodyPr/>
                    <a:lstStyle/>
                    <a:p>
                      <a:pPr>
                        <a:defRPr sz="1500" b="1">
                          <a:solidFill>
                            <a:srgbClr val="1F3864"/>
                          </a:solidFill>
                          <a:latin typeface="Calibri"/>
                        </a:defRPr>
                      </a:pPr>
                      <a:r>
                        <a:t>Stacked bar</a:t>
                      </a:r>
                    </a:p>
                  </a:txBody>
                  <a:tcPr marL="91440" marR="91440" marT="27432" marB="27432" anchor="ctr">
                    <a:solidFill>
                      <a:srgbClr val="EDF2F7"/>
                    </a:solidFill>
                  </a:tcPr>
                </a:tc>
                <a:tc>
                  <a:txBody>
                    <a:bodyPr/>
                    <a:lstStyle/>
                    <a:p>
                      <a:pPr>
                        <a:defRPr sz="1500">
                          <a:solidFill>
                            <a:srgbClr val="1A1A1A"/>
                          </a:solidFill>
                          <a:latin typeface="Calibri"/>
                        </a:defRPr>
                      </a:pPr>
                      <a:r>
                        <a:t>Several pies</a:t>
                      </a:r>
                    </a:p>
                  </a:txBody>
                  <a:tcPr marL="91440" marR="91440" marT="27432" marB="27432" anchor="ctr">
                    <a:solidFill>
                      <a:srgbClr val="EDF2F7"/>
                    </a:solidFill>
                  </a:tcPr>
                </a:tc>
              </a:tr>
              <a:tr h="600075">
                <a:tc>
                  <a:txBody>
                    <a:bodyPr/>
                    <a:lstStyle/>
                    <a:p>
                      <a:pPr>
                        <a:defRPr sz="1500">
                          <a:solidFill>
                            <a:srgbClr val="1A1A1A"/>
                          </a:solidFill>
                          <a:latin typeface="Calibri"/>
                        </a:defRPr>
                      </a:pPr>
                      <a:r>
                        <a:t>Where does my cohort lose people?</a:t>
                      </a:r>
                    </a:p>
                  </a:txBody>
                  <a:tcPr marL="91440" marR="91440" marT="27432" marB="27432" anchor="ctr">
                    <a:solidFill>
                      <a:srgbClr val="FFFFFF"/>
                    </a:solidFill>
                  </a:tcPr>
                </a:tc>
                <a:tc>
                  <a:txBody>
                    <a:bodyPr/>
                    <a:lstStyle/>
                    <a:p>
                      <a:pPr>
                        <a:defRPr sz="1500" b="1">
                          <a:solidFill>
                            <a:srgbClr val="1F3864"/>
                          </a:solidFill>
                          <a:latin typeface="Calibri"/>
                        </a:defRPr>
                      </a:pPr>
                      <a:r>
                        <a:t>Flow diagram</a:t>
                      </a:r>
                    </a:p>
                  </a:txBody>
                  <a:tcPr marL="91440" marR="91440" marT="27432" marB="27432" anchor="ctr">
                    <a:solidFill>
                      <a:srgbClr val="FFFFFF"/>
                    </a:solidFill>
                  </a:tcPr>
                </a:tc>
                <a:tc>
                  <a:txBody>
                    <a:bodyPr/>
                    <a:lstStyle/>
                    <a:p>
                      <a:pPr>
                        <a:defRPr sz="1500">
                          <a:solidFill>
                            <a:srgbClr val="1A1A1A"/>
                          </a:solidFill>
                          <a:latin typeface="Calibri"/>
                        </a:defRPr>
                      </a:pPr>
                      <a:r>
                        <a:t>Table</a:t>
                      </a:r>
                    </a:p>
                  </a:txBody>
                  <a:tcPr marL="91440" marR="91440" marT="27432" marB="27432"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789920" cy="274320"/>
          </a:xfrm>
          <a:prstGeom prst="rect">
            <a:avLst/>
          </a:prstGeom>
          <a:noFill/>
        </p:spPr>
        <p:txBody>
          <a:bodyPr wrap="square" anchor="t" lIns="0" rIns="0" tIns="0" bIns="0">
            <a:spAutoFit/>
          </a:bodyPr>
          <a:lstStyle/>
          <a:p>
            <a:pPr algn="l">
              <a:lnSpc>
                <a:spcPct val="100000"/>
              </a:lnSpc>
            </a:pPr>
            <a:r>
              <a:rPr sz="1050" b="1" i="0">
                <a:solidFill>
                  <a:srgbClr val="F2C14E"/>
                </a:solidFill>
                <a:latin typeface="Calibri"/>
              </a:rPr>
              <a:t>GRAPHS</a:t>
            </a:r>
          </a:p>
        </p:txBody>
      </p:sp>
      <p:sp>
        <p:nvSpPr>
          <p:cNvPr id="5" name="TextBox 4"/>
          <p:cNvSpPr txBox="1"/>
          <p:nvPr/>
        </p:nvSpPr>
        <p:spPr>
          <a:xfrm>
            <a:off x="685800" y="475488"/>
            <a:ext cx="10789920" cy="548640"/>
          </a:xfrm>
          <a:prstGeom prst="rect">
            <a:avLst/>
          </a:prstGeom>
          <a:noFill/>
        </p:spPr>
        <p:txBody>
          <a:bodyPr wrap="square" anchor="t" lIns="0" rIns="0" tIns="0" bIns="0">
            <a:spAutoFit/>
          </a:bodyPr>
          <a:lstStyle/>
          <a:p>
            <a:pPr algn="l">
              <a:lnSpc>
                <a:spcPct val="100000"/>
              </a:lnSpc>
            </a:pPr>
            <a:r>
              <a:rPr sz="2700" b="1" i="0">
                <a:solidFill>
                  <a:srgbClr val="FFFFFF"/>
                </a:solidFill>
                <a:latin typeface="Calibri"/>
              </a:rPr>
              <a:t>Which municipality has the worst TB problem?</a:t>
            </a:r>
          </a:p>
        </p:txBody>
      </p:sp>
      <p:pic>
        <p:nvPicPr>
          <p:cNvPr id="6" name="Picture 5" descr="sick_3.png"/>
          <p:cNvPicPr>
            <a:picLocks noChangeAspect="1"/>
          </p:cNvPicPr>
          <p:nvPr/>
        </p:nvPicPr>
        <p:blipFill>
          <a:blip r:embed="rId2"/>
          <a:stretch>
            <a:fillRect/>
          </a:stretch>
        </p:blipFill>
        <p:spPr>
          <a:xfrm>
            <a:off x="2704061" y="1417320"/>
            <a:ext cx="6783572" cy="50292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789920" cy="274320"/>
          </a:xfrm>
          <a:prstGeom prst="rect">
            <a:avLst/>
          </a:prstGeom>
          <a:noFill/>
        </p:spPr>
        <p:txBody>
          <a:bodyPr wrap="square" anchor="t" lIns="0" rIns="0" tIns="0" bIns="0">
            <a:spAutoFit/>
          </a:bodyPr>
          <a:lstStyle/>
          <a:p>
            <a:pPr algn="l">
              <a:lnSpc>
                <a:spcPct val="100000"/>
              </a:lnSpc>
            </a:pPr>
            <a:r>
              <a:rPr sz="1050" b="1" i="0">
                <a:solidFill>
                  <a:srgbClr val="F2C14E"/>
                </a:solidFill>
                <a:latin typeface="Calibri"/>
              </a:rPr>
              <a:t>GRAPHS</a:t>
            </a:r>
          </a:p>
        </p:txBody>
      </p:sp>
      <p:sp>
        <p:nvSpPr>
          <p:cNvPr id="5" name="TextBox 4"/>
          <p:cNvSpPr txBox="1"/>
          <p:nvPr/>
        </p:nvSpPr>
        <p:spPr>
          <a:xfrm>
            <a:off x="685800" y="475488"/>
            <a:ext cx="10789920" cy="548640"/>
          </a:xfrm>
          <a:prstGeom prst="rect">
            <a:avLst/>
          </a:prstGeom>
          <a:noFill/>
        </p:spPr>
        <p:txBody>
          <a:bodyPr wrap="square" anchor="t" lIns="0" rIns="0" tIns="0" bIns="0">
            <a:spAutoFit/>
          </a:bodyPr>
          <a:lstStyle/>
          <a:p>
            <a:pPr algn="l">
              <a:lnSpc>
                <a:spcPct val="100000"/>
              </a:lnSpc>
            </a:pPr>
            <a:r>
              <a:rPr sz="2700" b="1" i="0">
                <a:solidFill>
                  <a:srgbClr val="FFFFFF"/>
                </a:solidFill>
                <a:latin typeface="Calibri"/>
              </a:rPr>
              <a:t>Now per 100 000 population.</a:t>
            </a:r>
          </a:p>
        </p:txBody>
      </p:sp>
      <p:pic>
        <p:nvPicPr>
          <p:cNvPr id="6" name="Picture 5" descr="cured_3.png"/>
          <p:cNvPicPr>
            <a:picLocks noChangeAspect="1"/>
          </p:cNvPicPr>
          <p:nvPr/>
        </p:nvPicPr>
        <p:blipFill>
          <a:blip r:embed="rId2"/>
          <a:stretch>
            <a:fillRect/>
          </a:stretch>
        </p:blipFill>
        <p:spPr>
          <a:xfrm>
            <a:off x="2952597" y="1417320"/>
            <a:ext cx="6286501" cy="50292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789920" cy="274320"/>
          </a:xfrm>
          <a:prstGeom prst="rect">
            <a:avLst/>
          </a:prstGeom>
          <a:noFill/>
        </p:spPr>
        <p:txBody>
          <a:bodyPr wrap="square" anchor="t" lIns="0" rIns="0" tIns="0" bIns="0">
            <a:spAutoFit/>
          </a:bodyPr>
          <a:lstStyle/>
          <a:p>
            <a:pPr algn="l">
              <a:lnSpc>
                <a:spcPct val="100000"/>
              </a:lnSpc>
            </a:pPr>
            <a:r>
              <a:rPr sz="1050" b="1" i="0">
                <a:solidFill>
                  <a:srgbClr val="F2C14E"/>
                </a:solidFill>
                <a:latin typeface="Calibri"/>
              </a:rPr>
              <a:t>GRAPHS</a:t>
            </a:r>
          </a:p>
        </p:txBody>
      </p:sp>
      <p:sp>
        <p:nvSpPr>
          <p:cNvPr id="5" name="TextBox 4"/>
          <p:cNvSpPr txBox="1"/>
          <p:nvPr/>
        </p:nvSpPr>
        <p:spPr>
          <a:xfrm>
            <a:off x="685800" y="475488"/>
            <a:ext cx="10789920" cy="548640"/>
          </a:xfrm>
          <a:prstGeom prst="rect">
            <a:avLst/>
          </a:prstGeom>
          <a:noFill/>
        </p:spPr>
        <p:txBody>
          <a:bodyPr wrap="square" anchor="t" lIns="0" rIns="0" tIns="0" bIns="0">
            <a:spAutoFit/>
          </a:bodyPr>
          <a:lstStyle/>
          <a:p>
            <a:pPr algn="l">
              <a:lnSpc>
                <a:spcPct val="100000"/>
              </a:lnSpc>
            </a:pPr>
            <a:r>
              <a:rPr sz="2700" b="1" i="0">
                <a:solidFill>
                  <a:srgbClr val="FFFFFF"/>
                </a:solidFill>
                <a:latin typeface="Calibri"/>
              </a:rPr>
              <a:t>The four ways a graph lies</a:t>
            </a:r>
          </a:p>
        </p:txBody>
      </p:sp>
      <p:sp>
        <p:nvSpPr>
          <p:cNvPr id="6" name="Rectangle 5"/>
          <p:cNvSpPr/>
          <p:nvPr/>
        </p:nvSpPr>
        <p:spPr>
          <a:xfrm>
            <a:off x="685800" y="1554480"/>
            <a:ext cx="5138928" cy="475488"/>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645920"/>
            <a:ext cx="4773168" cy="365760"/>
          </a:xfrm>
          <a:prstGeom prst="rect">
            <a:avLst/>
          </a:prstGeom>
          <a:noFill/>
        </p:spPr>
        <p:txBody>
          <a:bodyPr wrap="square" anchor="t" lIns="0" rIns="0" tIns="0" bIns="0">
            <a:spAutoFit/>
          </a:bodyPr>
          <a:lstStyle/>
          <a:p>
            <a:pPr algn="l">
              <a:lnSpc>
                <a:spcPct val="100000"/>
              </a:lnSpc>
            </a:pPr>
            <a:r>
              <a:rPr sz="1700" b="1" i="0">
                <a:solidFill>
                  <a:srgbClr val="FFFFFF"/>
                </a:solidFill>
                <a:latin typeface="Calibri"/>
              </a:rPr>
              <a:t>Common crimes</a:t>
            </a:r>
          </a:p>
        </p:txBody>
      </p:sp>
      <p:sp>
        <p:nvSpPr>
          <p:cNvPr id="8" name="Rectangle 7"/>
          <p:cNvSpPr/>
          <p:nvPr/>
        </p:nvSpPr>
        <p:spPr>
          <a:xfrm>
            <a:off x="685800" y="2029968"/>
            <a:ext cx="5138928" cy="3794760"/>
          </a:xfrm>
          <a:prstGeom prst="rect">
            <a:avLst/>
          </a:prstGeom>
          <a:solidFill>
            <a:srgbClr val="FBEA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2240280"/>
            <a:ext cx="4636008" cy="3383280"/>
          </a:xfrm>
          <a:prstGeom prst="rect">
            <a:avLst/>
          </a:prstGeom>
          <a:noFill/>
        </p:spPr>
        <p:txBody>
          <a:bodyPr wrap="square" anchor="t" lIns="0" rIns="0" tIns="0" bIns="0">
            <a:spAutoFit/>
          </a:bodyPr>
          <a:lstStyle/>
          <a:p>
            <a:pPr algn="l">
              <a:lnSpc>
                <a:spcPct val="125000"/>
              </a:lnSpc>
            </a:pPr>
            <a:r>
              <a:rPr sz="1600" b="0" i="0">
                <a:solidFill>
                  <a:srgbClr val="1A1A1A"/>
                </a:solidFill>
                <a:latin typeface="Calibri"/>
              </a:rPr>
              <a:t>▪   Truncated y-axis — exaggerates small differences</a:t>
            </a:r>
          </a:p>
          <a:p>
            <a:pPr algn="l">
              <a:lnSpc>
                <a:spcPct val="125000"/>
              </a:lnSpc>
              <a:spcBef>
                <a:spcPts val="1300"/>
              </a:spcBef>
            </a:pPr>
            <a:r>
              <a:rPr sz="1600" b="0" i="0">
                <a:solidFill>
                  <a:srgbClr val="1A1A1A"/>
                </a:solidFill>
                <a:latin typeface="Calibri"/>
              </a:rPr>
              <a:t>▪   Counts where you need rates</a:t>
            </a:r>
          </a:p>
          <a:p>
            <a:pPr algn="l">
              <a:lnSpc>
                <a:spcPct val="125000"/>
              </a:lnSpc>
              <a:spcBef>
                <a:spcPts val="1300"/>
              </a:spcBef>
            </a:pPr>
            <a:r>
              <a:rPr sz="1600" b="0" i="0">
                <a:solidFill>
                  <a:srgbClr val="1A1A1A"/>
                </a:solidFill>
                <a:latin typeface="Calibri"/>
              </a:rPr>
              <a:t>▪   Pie chart with nine slices</a:t>
            </a:r>
          </a:p>
          <a:p>
            <a:pPr algn="l">
              <a:lnSpc>
                <a:spcPct val="125000"/>
              </a:lnSpc>
              <a:spcBef>
                <a:spcPts val="1300"/>
              </a:spcBef>
            </a:pPr>
            <a:r>
              <a:rPr sz="1600" b="0" i="0">
                <a:solidFill>
                  <a:srgbClr val="1A1A1A"/>
                </a:solidFill>
                <a:latin typeface="Calibri"/>
              </a:rPr>
              <a:t>▪   Bar of means hiding the spread</a:t>
            </a:r>
          </a:p>
        </p:txBody>
      </p:sp>
      <p:sp>
        <p:nvSpPr>
          <p:cNvPr id="10" name="Rectangle 9"/>
          <p:cNvSpPr/>
          <p:nvPr/>
        </p:nvSpPr>
        <p:spPr>
          <a:xfrm>
            <a:off x="6355080" y="1554480"/>
            <a:ext cx="5138928" cy="475488"/>
          </a:xfrm>
          <a:prstGeom prst="rect">
            <a:avLst/>
          </a:prstGeom>
          <a:solidFill>
            <a:srgbClr val="0F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6248" y="1645920"/>
            <a:ext cx="4773168" cy="365760"/>
          </a:xfrm>
          <a:prstGeom prst="rect">
            <a:avLst/>
          </a:prstGeom>
          <a:noFill/>
        </p:spPr>
        <p:txBody>
          <a:bodyPr wrap="square" anchor="t" lIns="0" rIns="0" tIns="0" bIns="0">
            <a:spAutoFit/>
          </a:bodyPr>
          <a:lstStyle/>
          <a:p>
            <a:pPr algn="l">
              <a:lnSpc>
                <a:spcPct val="100000"/>
              </a:lnSpc>
            </a:pPr>
            <a:r>
              <a:rPr sz="1700" b="1" i="0">
                <a:solidFill>
                  <a:srgbClr val="FFFFFF"/>
                </a:solidFill>
                <a:latin typeface="Calibri"/>
              </a:rPr>
              <a:t>The five checks</a:t>
            </a:r>
          </a:p>
        </p:txBody>
      </p:sp>
      <p:sp>
        <p:nvSpPr>
          <p:cNvPr id="12" name="Rectangle 11"/>
          <p:cNvSpPr/>
          <p:nvPr/>
        </p:nvSpPr>
        <p:spPr>
          <a:xfrm>
            <a:off x="6355080" y="2029968"/>
            <a:ext cx="5138928" cy="3794760"/>
          </a:xfrm>
          <a:prstGeom prst="rect">
            <a:avLst/>
          </a:prstGeom>
          <a:solidFill>
            <a:srgbClr val="E4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11112" y="2240280"/>
            <a:ext cx="4636008" cy="3383280"/>
          </a:xfrm>
          <a:prstGeom prst="rect">
            <a:avLst/>
          </a:prstGeom>
          <a:noFill/>
        </p:spPr>
        <p:txBody>
          <a:bodyPr wrap="square" anchor="t" lIns="0" rIns="0" tIns="0" bIns="0">
            <a:spAutoFit/>
          </a:bodyPr>
          <a:lstStyle/>
          <a:p>
            <a:pPr algn="l">
              <a:lnSpc>
                <a:spcPct val="125000"/>
              </a:lnSpc>
            </a:pPr>
            <a:r>
              <a:rPr sz="1600" b="0" i="0">
                <a:solidFill>
                  <a:srgbClr val="1A1A1A"/>
                </a:solidFill>
                <a:latin typeface="Calibri"/>
              </a:rPr>
              <a:t>▪   Both axes labelled, with units</a:t>
            </a:r>
          </a:p>
          <a:p>
            <a:pPr algn="l">
              <a:lnSpc>
                <a:spcPct val="125000"/>
              </a:lnSpc>
              <a:spcBef>
                <a:spcPts val="1300"/>
              </a:spcBef>
            </a:pPr>
            <a:r>
              <a:rPr sz="1600" b="0" i="0">
                <a:solidFill>
                  <a:srgbClr val="1A1A1A"/>
                </a:solidFill>
                <a:latin typeface="Calibri"/>
              </a:rPr>
              <a:t>▪   y-axis starts at zero</a:t>
            </a:r>
          </a:p>
          <a:p>
            <a:pPr algn="l">
              <a:lnSpc>
                <a:spcPct val="125000"/>
              </a:lnSpc>
              <a:spcBef>
                <a:spcPts val="1300"/>
              </a:spcBef>
            </a:pPr>
            <a:r>
              <a:rPr sz="1600" b="0" i="0">
                <a:solidFill>
                  <a:srgbClr val="1A1A1A"/>
                </a:solidFill>
                <a:latin typeface="Calibri"/>
              </a:rPr>
              <a:t>▪   n is stated on the chart</a:t>
            </a:r>
          </a:p>
          <a:p>
            <a:pPr algn="l">
              <a:lnSpc>
                <a:spcPct val="125000"/>
              </a:lnSpc>
              <a:spcBef>
                <a:spcPts val="1300"/>
              </a:spcBef>
            </a:pPr>
            <a:r>
              <a:rPr sz="1600" b="0" i="0">
                <a:solidFill>
                  <a:srgbClr val="1A1A1A"/>
                </a:solidFill>
                <a:latin typeface="Calibri"/>
              </a:rPr>
              <a:t>▪   Survives black and white printing</a:t>
            </a:r>
          </a:p>
          <a:p>
            <a:pPr algn="l">
              <a:lnSpc>
                <a:spcPct val="125000"/>
              </a:lnSpc>
              <a:spcBef>
                <a:spcPts val="1300"/>
              </a:spcBef>
            </a:pPr>
            <a:r>
              <a:rPr sz="1600" b="0" i="0">
                <a:solidFill>
                  <a:srgbClr val="1A1A1A"/>
                </a:solidFill>
                <a:latin typeface="Calibri"/>
              </a:rPr>
              <a:t>▪   All decoration deleted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B3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77240"/>
            <a:ext cx="10058400" cy="365760"/>
          </a:xfrm>
          <a:prstGeom prst="rect">
            <a:avLst/>
          </a:prstGeom>
          <a:noFill/>
        </p:spPr>
        <p:txBody>
          <a:bodyPr wrap="square" anchor="t" lIns="0" rIns="0" tIns="0" bIns="0">
            <a:spAutoFit/>
          </a:bodyPr>
          <a:lstStyle/>
          <a:p>
            <a:pPr algn="l">
              <a:lnSpc>
                <a:spcPct val="100000"/>
              </a:lnSpc>
            </a:pPr>
            <a:r>
              <a:rPr sz="1400" b="1" i="0">
                <a:solidFill>
                  <a:srgbClr val="B37A00"/>
                </a:solidFill>
                <a:latin typeface="Calibri"/>
              </a:rPr>
              <a:t>AFTER LUNCH   •   35 minutes</a:t>
            </a:r>
          </a:p>
        </p:txBody>
      </p:sp>
      <p:sp>
        <p:nvSpPr>
          <p:cNvPr id="5" name="TextBox 4"/>
          <p:cNvSpPr txBox="1"/>
          <p:nvPr/>
        </p:nvSpPr>
        <p:spPr>
          <a:xfrm>
            <a:off x="914400" y="1234440"/>
            <a:ext cx="10058400" cy="1005840"/>
          </a:xfrm>
          <a:prstGeom prst="rect">
            <a:avLst/>
          </a:prstGeom>
          <a:noFill/>
        </p:spPr>
        <p:txBody>
          <a:bodyPr wrap="square" anchor="t" lIns="0" rIns="0" tIns="0" bIns="0">
            <a:spAutoFit/>
          </a:bodyPr>
          <a:lstStyle/>
          <a:p>
            <a:pPr algn="l">
              <a:lnSpc>
                <a:spcPct val="105000"/>
              </a:lnSpc>
            </a:pPr>
            <a:r>
              <a:rPr sz="4000" b="1" i="0">
                <a:solidFill>
                  <a:srgbClr val="1F3864"/>
                </a:solidFill>
                <a:latin typeface="Calibri"/>
              </a:rPr>
              <a:t>Chart Doctor</a:t>
            </a:r>
          </a:p>
        </p:txBody>
      </p:sp>
      <p:sp>
        <p:nvSpPr>
          <p:cNvPr id="6" name="TextBox 5"/>
          <p:cNvSpPr txBox="1"/>
          <p:nvPr/>
        </p:nvSpPr>
        <p:spPr>
          <a:xfrm>
            <a:off x="914400" y="2743200"/>
            <a:ext cx="10058400" cy="3200400"/>
          </a:xfrm>
          <a:prstGeom prst="rect">
            <a:avLst/>
          </a:prstGeom>
          <a:noFill/>
        </p:spPr>
        <p:txBody>
          <a:bodyPr wrap="square" anchor="t" lIns="0" rIns="0" tIns="0" bIns="0">
            <a:spAutoFit/>
          </a:bodyPr>
          <a:lstStyle/>
          <a:p>
            <a:pPr algn="l">
              <a:lnSpc>
                <a:spcPct val="125000"/>
              </a:lnSpc>
            </a:pPr>
            <a:r>
              <a:rPr sz="1900" b="0" i="0">
                <a:solidFill>
                  <a:srgbClr val="1A1A1A"/>
                </a:solidFill>
                <a:latin typeface="Calibri"/>
              </a:rPr>
              <a:t>1.   Six sick charts are taped around the room</a:t>
            </a:r>
          </a:p>
          <a:p>
            <a:pPr algn="l">
              <a:lnSpc>
                <a:spcPct val="125000"/>
              </a:lnSpc>
              <a:spcBef>
                <a:spcPts val="1600"/>
              </a:spcBef>
            </a:pPr>
            <a:r>
              <a:rPr sz="1900" b="0" i="0">
                <a:solidFill>
                  <a:srgbClr val="1A1A1A"/>
                </a:solidFill>
                <a:latin typeface="Calibri"/>
              </a:rPr>
              <a:t>2.   Your team diagnoses each one: what is wrong?</a:t>
            </a:r>
          </a:p>
          <a:p>
            <a:pPr algn="l">
              <a:lnSpc>
                <a:spcPct val="125000"/>
              </a:lnSpc>
              <a:spcBef>
                <a:spcPts val="1600"/>
              </a:spcBef>
            </a:pPr>
            <a:r>
              <a:rPr sz="1900" b="0" i="0">
                <a:solidFill>
                  <a:srgbClr val="1A1A1A"/>
                </a:solidFill>
                <a:latin typeface="Calibri"/>
              </a:rPr>
              <a:t>3.   Then prescribe: what would you do instead?</a:t>
            </a:r>
          </a:p>
          <a:p>
            <a:pPr algn="l">
              <a:lnSpc>
                <a:spcPct val="125000"/>
              </a:lnSpc>
              <a:spcBef>
                <a:spcPts val="1600"/>
              </a:spcBef>
            </a:pPr>
            <a:r>
              <a:rPr sz="1900" b="0" i="0">
                <a:solidFill>
                  <a:srgbClr val="1A1A1A"/>
                </a:solidFill>
                <a:latin typeface="Calibri"/>
              </a:rPr>
              <a:t>4.   One sticky note per chart. Prize for the best diagnosis.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103120"/>
            <a:ext cx="9784080" cy="2926080"/>
          </a:xfrm>
          <a:prstGeom prst="rect">
            <a:avLst/>
          </a:prstGeom>
          <a:noFill/>
        </p:spPr>
        <p:txBody>
          <a:bodyPr wrap="square" anchor="ctr" lIns="0" rIns="0" tIns="0" bIns="0">
            <a:spAutoFit/>
          </a:bodyPr>
          <a:lstStyle/>
          <a:p>
            <a:pPr algn="ctr">
              <a:lnSpc>
                <a:spcPct val="115000"/>
              </a:lnSpc>
            </a:pPr>
            <a:r>
              <a:rPr sz="3600" b="1" i="0">
                <a:solidFill>
                  <a:srgbClr val="FFFFFF"/>
                </a:solidFill>
                <a:latin typeface="Calibri"/>
              </a:rPr>
              <a:t>A table gives exact values.
A graph shows shape and comparison.</a:t>
            </a:r>
          </a:p>
          <a:p>
            <a:pPr algn="ctr">
              <a:lnSpc>
                <a:spcPct val="115000"/>
              </a:lnSpc>
              <a:spcBef>
                <a:spcPts val="2200"/>
              </a:spcBef>
            </a:pPr>
            <a:r>
              <a:rPr sz="2000" b="0" i="1">
                <a:solidFill>
                  <a:srgbClr val="444444"/>
                </a:solidFill>
                <a:latin typeface="Calibri"/>
              </a:rPr>
              <a:t>Choose one. Never show the same numbers as both.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