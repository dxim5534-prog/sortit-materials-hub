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This lecture is 30 minutes. That is 12 slides at roughly 2 minutes each, plus the card sort game. Do NOT try to teach statistics here. Your only job is to give them three rules they will use in the group work at 11:00.</a:t>
            </a:r>
          </a:p>
          <a:p/>
          <a:p>
            <a:r>
              <a:t>Open by asking: 'Put your hand up if you already have data collected.' Most hands go up. 'Keep it up if you know exactly what your first table will look like.' Most hands go down. That gap is what this session is about.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slowly. Many participants are frightened of this session because they think it will be mathematics. Relieve that fear in the first two minutes or you will lose them for the rest of the day.</a:t>
            </a:r>
          </a:p>
          <a:p/>
          <a:p>
            <a:r>
              <a:t>Nearly all operational research is descriptive: counts, percentages, medians. You do not need advanced statistics to change policy. You need the right denominator and an honest 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Signpost clearly. Tell them there are exactly three rules and they will practise all three before lunch. People relax when they know the shape of what is coming.</a:t>
            </a:r>
          </a:p>
          <a:p/>
          <a:p>
            <a:r>
              <a:t>Point to the three factsheets on their desk: FS1, FS2, FS3. One per rule.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8 minutes including the game.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this table aloud - they have it on Factsheet 1. Spend your time on the next slide instead, which is where people actually get it wrong.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slide of Rule 1. Ask the question and wait. Let the silence sit for a full five seconds - somebody will laugh.</a:t>
            </a:r>
          </a:p>
          <a:p/>
          <a:p>
            <a:r>
              <a:t>Then: 'The computer will happily calculate 1.4 for you. It will never warn you. This is why YOU have to know your variable types - Excel does not.'</a:t>
            </a:r>
          </a:p>
          <a:p/>
          <a:p>
            <a:r>
              <a:t>Then go straight into the card sort game.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A1_Variable-Type-Race_FACILITATOR for the full run sheet and answer key.</a:t>
            </a:r>
          </a:p>
          <a:p/>
          <a:p>
            <a:r>
              <a:t>Keep the energy high and the clock visible. Do NOT confirm answers during round 1 - the uncertainty is what drives the challenge round.</a:t>
            </a:r>
          </a:p>
          <a:p/>
          <a:p>
            <a:r>
              <a:t>Trap cards to debrief: sex coded 1/2, smear grade, number of children, postcode, pain score 0-10.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If you ran the Human Histogram (A3) earlier, refer back to it constantly here - 'remember where I was standing?'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box plot. 'The line in the middle of each box is the median. The box is the middle half of patients. The dots are outliers.'</a:t>
            </a:r>
          </a:p>
          <a:p/>
          <a:p>
            <a:r>
              <a:t>KEY POINT, and it is worth 60 seconds: if you drew this as a bar chart of MEANS, lost-to-follow-up patients would appear to live 16.5 km away versus 9.9 km for those who completed. That looks like a real finding you could write a paper about.</a:t>
            </a:r>
          </a:p>
          <a:p/>
          <a:p>
            <a:r>
              <a:t>But look at the medians - 7.6 km and 6.9 km. Almost identical. The entire 'difference' is two or three very remote patients inside a group of 16. The mean invented a finding that is not there.</a:t>
            </a:r>
          </a:p>
          <a:p/>
          <a:p>
            <a:r>
              <a:t>They will see this again as Chart Doctor Patient 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know if your data are skewed? Three ways, and mention all three:</a:t>
            </a:r>
          </a:p>
          <a:p>
            <a:r>
              <a:t>1. Compare mean and median - if far apart, it is skewed. Costs nothing.</a:t>
            </a:r>
          </a:p>
          <a:p>
            <a:r>
              <a:t>2. Draw a histogram - ten seconds in Excel.</a:t>
            </a:r>
          </a:p>
          <a:p>
            <a:r>
              <a:t>3. Look at min and max.</a:t>
            </a:r>
          </a:p>
          <a:p/>
          <a:p>
            <a:r>
              <a:t>In our practice data: mean distance 12.4 km, median 7.0 km. That gap is your warning light.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This is the most important part of the lecture. If you are running late, cut Rule 2 slides, never this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this slowly. Ask the room for the answer BEFORE you show the table. Somebody will say 70%. Somebody else will say 78.8%. Let them disagree.</a:t>
            </a:r>
          </a:p>
          <a:p/>
          <a:p>
            <a:r>
              <a:t>Then: 'You are both right. That is exactly the problem.'</a:t>
            </a:r>
          </a:p>
          <a:p/>
          <a:p>
            <a:r>
              <a:t>8.8 percentage points of difference, no arithmetic error anywhere. If the national target is 75%, this cohort has just passed or failed depending on a choice someone made in a spreadsheet.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this land. This is the single sentence you want them to remember from the whole module.</a:t>
            </a:r>
          </a:p>
          <a:p/>
          <a:p>
            <a:r>
              <a:t>Then the four fixes:</a:t>
            </a:r>
          </a:p>
          <a:p>
            <a:r>
              <a:t>1. Decide the denominator in your PROTOCOL, before you see results</a:t>
            </a:r>
          </a:p>
          <a:p>
            <a:r>
              <a:t>2. Use the standard definition where one exists and say so</a:t>
            </a:r>
          </a:p>
          <a:p>
            <a:r>
              <a:t>3. Always report n and N</a:t>
            </a:r>
          </a:p>
          <a:p>
            <a:r>
              <a:t>4. Account for everybody - the excluded patients are a finding, not a nuisance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question 2 out loud and wait for hands. Some will say yes.</a:t>
            </a:r>
          </a:p>
          <a:p/>
          <a:p>
            <a:r>
              <a:t>This is the trap that catches people who have understood everything else. A percentage from a tiny denominator looks authoritative and is almost meaningless.</a:t>
            </a:r>
          </a:p>
          <a:p/>
          <a:p>
            <a:r>
              <a:t>They will meet this again in the Denominator Hunt extension and in the Day 3 quiz.</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pointing at the three factsheets again and at the Data Detective passport. Tell them Case 1 gets stamped at the end of the card sort.</a:t>
            </a:r>
          </a:p>
          <a:p/>
          <a:p>
            <a:r>
              <a:t>Finish ON TIME. The group work is where the learning actually happens and you must not steal from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slide. Leave it up during the break.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331720"/>
            <a:ext cx="1371600" cy="635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515600" cy="457200"/>
          </a:xfrm>
          <a:prstGeom prst="rect">
            <a:avLst/>
          </a:prstGeom>
          <a:noFill/>
        </p:spPr>
        <p:txBody>
          <a:bodyPr wrap="square" anchor="t" lIns="0" rIns="0" tIns="0" bIns="0">
            <a:spAutoFit/>
          </a:bodyPr>
          <a:lstStyle/>
          <a:p>
            <a:pPr algn="l">
              <a:lnSpc>
                <a:spcPct val="100000"/>
              </a:lnSpc>
            </a:pPr>
            <a:r>
              <a:rPr sz="1500" b="1" i="0">
                <a:solidFill>
                  <a:srgbClr val="F2C14E"/>
                </a:solidFill>
                <a:latin typeface="Calibri"/>
              </a:rPr>
              <a:t>LECTURE 4  •  DAY 2, 10:00–10:30</a:t>
            </a:r>
          </a:p>
        </p:txBody>
      </p:sp>
      <p:sp>
        <p:nvSpPr>
          <p:cNvPr id="5" name="TextBox 4"/>
          <p:cNvSpPr txBox="1"/>
          <p:nvPr/>
        </p:nvSpPr>
        <p:spPr>
          <a:xfrm>
            <a:off x="822960" y="2697480"/>
            <a:ext cx="10515600" cy="1828800"/>
          </a:xfrm>
          <a:prstGeom prst="rect">
            <a:avLst/>
          </a:prstGeom>
          <a:noFill/>
        </p:spPr>
        <p:txBody>
          <a:bodyPr wrap="square" anchor="t" lIns="0" rIns="0" tIns="0" bIns="0">
            <a:spAutoFit/>
          </a:bodyPr>
          <a:lstStyle/>
          <a:p>
            <a:pPr algn="l">
              <a:lnSpc>
                <a:spcPct val="105000"/>
              </a:lnSpc>
            </a:pPr>
            <a:r>
              <a:rPr sz="4600" b="1" i="0">
                <a:solidFill>
                  <a:srgbClr val="FFFFFF"/>
                </a:solidFill>
                <a:latin typeface="Calibri"/>
              </a:rPr>
              <a:t>Introduction to data analysis</a:t>
            </a:r>
          </a:p>
        </p:txBody>
      </p:sp>
      <p:sp>
        <p:nvSpPr>
          <p:cNvPr id="6" name="TextBox 5"/>
          <p:cNvSpPr txBox="1"/>
          <p:nvPr/>
        </p:nvSpPr>
        <p:spPr>
          <a:xfrm>
            <a:off x="822960" y="4572000"/>
            <a:ext cx="9601200" cy="1097280"/>
          </a:xfrm>
          <a:prstGeom prst="rect">
            <a:avLst/>
          </a:prstGeom>
          <a:noFill/>
        </p:spPr>
        <p:txBody>
          <a:bodyPr wrap="square" anchor="t" lIns="0" rIns="0" tIns="0" bIns="0">
            <a:spAutoFit/>
          </a:bodyPr>
          <a:lstStyle/>
          <a:p>
            <a:pPr algn="l">
              <a:lnSpc>
                <a:spcPct val="125000"/>
              </a:lnSpc>
            </a:pPr>
            <a:r>
              <a:rPr sz="1900" b="0" i="1">
                <a:solidFill>
                  <a:srgbClr val="C8D4E4"/>
                </a:solidFill>
                <a:latin typeface="Calibri"/>
              </a:rPr>
              <a:t>SORT IT Module 3  •  Data analysis and interpretation of results  •  Timor-Leste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103120"/>
            <a:ext cx="9784080" cy="2926080"/>
          </a:xfrm>
          <a:prstGeom prst="rect">
            <a:avLst/>
          </a:prstGeom>
          <a:noFill/>
        </p:spPr>
        <p:txBody>
          <a:bodyPr wrap="square" anchor="ctr" lIns="0" rIns="0" tIns="0" bIns="0">
            <a:spAutoFit/>
          </a:bodyPr>
          <a:lstStyle/>
          <a:p>
            <a:pPr algn="ctr">
              <a:lnSpc>
                <a:spcPct val="115000"/>
              </a:lnSpc>
            </a:pPr>
            <a:r>
              <a:rPr sz="4400" b="1" i="0">
                <a:solidFill>
                  <a:srgbClr val="FFFFFF"/>
                </a:solidFill>
                <a:latin typeface="Calibri"/>
              </a:rPr>
              <a:t>Analysis is not statistics.</a:t>
            </a:r>
          </a:p>
          <a:p>
            <a:pPr algn="ctr">
              <a:lnSpc>
                <a:spcPct val="115000"/>
              </a:lnSpc>
              <a:spcBef>
                <a:spcPts val="2200"/>
              </a:spcBef>
            </a:pPr>
            <a:r>
              <a:rPr sz="2000" b="0" i="1">
                <a:solidFill>
                  <a:srgbClr val="C8D4E4"/>
                </a:solidFill>
                <a:latin typeface="Calibri"/>
              </a:rPr>
              <a:t>It is deciding what question you are answering — and then counting carefully.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WHAT YOU WILL LEAVE WITH</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Three rules. That is the whole lecture.</a:t>
            </a:r>
          </a:p>
        </p:txBody>
      </p:sp>
      <p:sp>
        <p:nvSpPr>
          <p:cNvPr id="6" name="TextBox 5"/>
          <p:cNvSpPr txBox="1"/>
          <p:nvPr/>
        </p:nvSpPr>
        <p:spPr>
          <a:xfrm>
            <a:off x="868680" y="1600200"/>
            <a:ext cx="10515600" cy="4754880"/>
          </a:xfrm>
          <a:prstGeom prst="rect">
            <a:avLst/>
          </a:prstGeom>
          <a:noFill/>
        </p:spPr>
        <p:txBody>
          <a:bodyPr wrap="square" anchor="t" lIns="0" rIns="0" tIns="0" bIns="0">
            <a:spAutoFit/>
          </a:bodyPr>
          <a:lstStyle/>
          <a:p>
            <a:pPr algn="l">
              <a:lnSpc>
                <a:spcPct val="128000"/>
              </a:lnSpc>
            </a:pPr>
            <a:r>
              <a:rPr sz="2200" b="0" i="0">
                <a:solidFill>
                  <a:srgbClr val="1A1A1A"/>
                </a:solidFill>
                <a:latin typeface="Calibri"/>
              </a:rPr>
              <a:t>▪   Know what type of variable you have — before you calculate anything</a:t>
            </a:r>
          </a:p>
          <a:p>
            <a:pPr algn="l">
              <a:lnSpc>
                <a:spcPct val="128000"/>
              </a:lnSpc>
              <a:spcBef>
                <a:spcPts val="1500"/>
              </a:spcBef>
            </a:pPr>
            <a:r>
              <a:rPr sz="2200" b="0" i="0">
                <a:solidFill>
                  <a:srgbClr val="1A1A1A"/>
                </a:solidFill>
                <a:latin typeface="Calibri"/>
              </a:rPr>
              <a:t>▪   Choose the right summary — mean and median are not interchangeable</a:t>
            </a:r>
          </a:p>
          <a:p>
            <a:pPr algn="l">
              <a:lnSpc>
                <a:spcPct val="128000"/>
              </a:lnSpc>
              <a:spcBef>
                <a:spcPts val="1500"/>
              </a:spcBef>
            </a:pPr>
            <a:r>
              <a:rPr sz="2200" b="0" i="0">
                <a:solidFill>
                  <a:srgbClr val="1A1A1A"/>
                </a:solidFill>
                <a:latin typeface="Calibri"/>
              </a:rPr>
              <a:t>▪   State your denominator — every single time, without exception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square" anchor="t" lIns="0" rIns="0" tIns="0" bIns="0">
            <a:spAutoFit/>
          </a:bodyPr>
          <a:lstStyle/>
          <a:p>
            <a:pPr algn="l">
              <a:lnSpc>
                <a:spcPct val="100000"/>
              </a:lnSpc>
            </a:pPr>
            <a:r>
              <a:rPr sz="1500" b="1" i="0">
                <a:solidFill>
                  <a:srgbClr val="B8E4DD"/>
                </a:solidFill>
                <a:latin typeface="Calibri"/>
              </a:rPr>
              <a:t>Rule 1</a:t>
            </a:r>
          </a:p>
        </p:txBody>
      </p:sp>
      <p:sp>
        <p:nvSpPr>
          <p:cNvPr id="4" name="TextBox 3"/>
          <p:cNvSpPr txBox="1"/>
          <p:nvPr/>
        </p:nvSpPr>
        <p:spPr>
          <a:xfrm>
            <a:off x="822960" y="2606040"/>
            <a:ext cx="10515600" cy="1645920"/>
          </a:xfrm>
          <a:prstGeom prst="rect">
            <a:avLst/>
          </a:prstGeom>
          <a:noFill/>
        </p:spPr>
        <p:txBody>
          <a:bodyPr wrap="square" anchor="t" lIns="0" rIns="0" tIns="0" bIns="0">
            <a:spAutoFit/>
          </a:bodyPr>
          <a:lstStyle/>
          <a:p>
            <a:pPr algn="l">
              <a:lnSpc>
                <a:spcPct val="105000"/>
              </a:lnSpc>
            </a:pPr>
            <a:r>
              <a:rPr sz="4200" b="1" i="0">
                <a:solidFill>
                  <a:srgbClr val="FFFFFF"/>
                </a:solidFill>
                <a:latin typeface="Calibri"/>
              </a:rPr>
              <a:t>Know your variable</a:t>
            </a:r>
          </a:p>
        </p:txBody>
      </p:sp>
      <p:sp>
        <p:nvSpPr>
          <p:cNvPr id="5" name="TextBox 4"/>
          <p:cNvSpPr txBox="1"/>
          <p:nvPr/>
        </p:nvSpPr>
        <p:spPr>
          <a:xfrm>
            <a:off x="822960" y="4160520"/>
            <a:ext cx="9601200" cy="914400"/>
          </a:xfrm>
          <a:prstGeom prst="rect">
            <a:avLst/>
          </a:prstGeom>
          <a:noFill/>
        </p:spPr>
        <p:txBody>
          <a:bodyPr wrap="square" anchor="t" lIns="0" rIns="0" tIns="0" bIns="0">
            <a:spAutoFit/>
          </a:bodyPr>
          <a:lstStyle/>
          <a:p>
            <a:pPr algn="l">
              <a:lnSpc>
                <a:spcPct val="100000"/>
              </a:lnSpc>
            </a:pPr>
            <a:r>
              <a:rPr sz="1900" b="0" i="1">
                <a:solidFill>
                  <a:srgbClr val="D6EFEA"/>
                </a:solidFill>
                <a:latin typeface="Calibri"/>
              </a:rPr>
              <a:t>Get this wrong and every number after it is wrong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RULE 1</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The four types</a:t>
            </a:r>
          </a:p>
        </p:txBody>
      </p:sp>
      <p:graphicFrame>
        <p:nvGraphicFramePr>
          <p:cNvPr id="6" name="Table 5"/>
          <p:cNvGraphicFramePr>
            <a:graphicFrameLocks noGrp="1"/>
          </p:cNvGraphicFramePr>
          <p:nvPr/>
        </p:nvGraphicFramePr>
        <p:xfrm>
          <a:off x="685800" y="2171700"/>
          <a:ext cx="10835638" cy="3566160"/>
        </p:xfrm>
        <a:graphic>
          <a:graphicData uri="http://schemas.openxmlformats.org/drawingml/2006/table">
            <a:tbl>
              <a:tblPr firstRow="1" bandRow="1">
                <a:tableStyleId>{5C22544A-7EE6-4342-B048-85BDC9FD1C3A}</a:tableStyleId>
              </a:tblPr>
              <a:tblGrid>
                <a:gridCol w="1516989"/>
                <a:gridCol w="2600553"/>
                <a:gridCol w="3250692"/>
                <a:gridCol w="3467404"/>
              </a:tblGrid>
              <a:tr h="713232">
                <a:tc>
                  <a:txBody>
                    <a:bodyPr/>
                    <a:lstStyle/>
                    <a:p>
                      <a:pPr>
                        <a:defRPr sz="1500" b="1">
                          <a:solidFill>
                            <a:srgbClr val="FFFFFF"/>
                          </a:solidFill>
                          <a:latin typeface="Calibri"/>
                        </a:defRPr>
                      </a:pPr>
                      <a:r>
                        <a:t>Type</a:t>
                      </a:r>
                    </a:p>
                  </a:txBody>
                  <a:tcPr marL="91440" marR="91440" anchor="ctr">
                    <a:solidFill>
                      <a:srgbClr val="1F3864"/>
                    </a:solidFill>
                  </a:tcPr>
                </a:tc>
                <a:tc>
                  <a:txBody>
                    <a:bodyPr/>
                    <a:lstStyle/>
                    <a:p>
                      <a:pPr>
                        <a:defRPr sz="1500" b="1">
                          <a:solidFill>
                            <a:srgbClr val="FFFFFF"/>
                          </a:solidFill>
                          <a:latin typeface="Calibri"/>
                        </a:defRPr>
                      </a:pPr>
                      <a:r>
                        <a:t>What it is</a:t>
                      </a:r>
                    </a:p>
                  </a:txBody>
                  <a:tcPr marL="91440" marR="91440" anchor="ctr">
                    <a:solidFill>
                      <a:srgbClr val="1F3864"/>
                    </a:solidFill>
                  </a:tcPr>
                </a:tc>
                <a:tc>
                  <a:txBody>
                    <a:bodyPr/>
                    <a:lstStyle/>
                    <a:p>
                      <a:pPr>
                        <a:defRPr sz="1500" b="1">
                          <a:solidFill>
                            <a:srgbClr val="FFFFFF"/>
                          </a:solidFill>
                          <a:latin typeface="Calibri"/>
                        </a:defRPr>
                      </a:pPr>
                      <a:r>
                        <a:t>Example</a:t>
                      </a:r>
                    </a:p>
                  </a:txBody>
                  <a:tcPr marL="91440" marR="91440" anchor="ctr">
                    <a:solidFill>
                      <a:srgbClr val="1F3864"/>
                    </a:solidFill>
                  </a:tcPr>
                </a:tc>
                <a:tc>
                  <a:txBody>
                    <a:bodyPr/>
                    <a:lstStyle/>
                    <a:p>
                      <a:pPr>
                        <a:defRPr sz="1500" b="1">
                          <a:solidFill>
                            <a:srgbClr val="FFFFFF"/>
                          </a:solidFill>
                          <a:latin typeface="Calibri"/>
                        </a:defRPr>
                      </a:pPr>
                      <a:r>
                        <a:t>How you summarise it</a:t>
                      </a:r>
                    </a:p>
                  </a:txBody>
                  <a:tcPr marL="91440" marR="91440" anchor="ctr">
                    <a:solidFill>
                      <a:srgbClr val="1F3864"/>
                    </a:solidFill>
                  </a:tcPr>
                </a:tc>
              </a:tr>
              <a:tr h="713232">
                <a:tc>
                  <a:txBody>
                    <a:bodyPr/>
                    <a:lstStyle/>
                    <a:p>
                      <a:pPr>
                        <a:defRPr sz="1600" b="1">
                          <a:solidFill>
                            <a:srgbClr val="1F3864"/>
                          </a:solidFill>
                          <a:latin typeface="Calibri"/>
                        </a:defRPr>
                      </a:pPr>
                      <a:r>
                        <a:t>Nominal</a:t>
                      </a:r>
                    </a:p>
                  </a:txBody>
                  <a:tcPr marL="91440" marR="91440" marT="27432" marB="27432" anchor="ctr">
                    <a:solidFill>
                      <a:srgbClr val="FFFFFF"/>
                    </a:solidFill>
                  </a:tcPr>
                </a:tc>
                <a:tc>
                  <a:txBody>
                    <a:bodyPr/>
                    <a:lstStyle/>
                    <a:p>
                      <a:pPr>
                        <a:defRPr sz="1600">
                          <a:solidFill>
                            <a:srgbClr val="1A1A1A"/>
                          </a:solidFill>
                          <a:latin typeface="Calibri"/>
                        </a:defRPr>
                      </a:pPr>
                      <a:r>
                        <a:t>Categories, no order</a:t>
                      </a:r>
                    </a:p>
                  </a:txBody>
                  <a:tcPr marL="91440" marR="91440" marT="27432" marB="27432" anchor="ctr">
                    <a:solidFill>
                      <a:srgbClr val="FFFFFF"/>
                    </a:solidFill>
                  </a:tcPr>
                </a:tc>
                <a:tc>
                  <a:txBody>
                    <a:bodyPr/>
                    <a:lstStyle/>
                    <a:p>
                      <a:pPr>
                        <a:defRPr sz="1600">
                          <a:solidFill>
                            <a:srgbClr val="1A1A1A"/>
                          </a:solidFill>
                          <a:latin typeface="Calibri"/>
                        </a:defRPr>
                      </a:pPr>
                      <a:r>
                        <a:t>Sex, municipality, TB type</a:t>
                      </a:r>
                    </a:p>
                  </a:txBody>
                  <a:tcPr marL="91440" marR="91440" marT="27432" marB="27432" anchor="ctr">
                    <a:solidFill>
                      <a:srgbClr val="FFFFFF"/>
                    </a:solidFill>
                  </a:tcPr>
                </a:tc>
                <a:tc>
                  <a:txBody>
                    <a:bodyPr/>
                    <a:lstStyle/>
                    <a:p>
                      <a:pPr>
                        <a:defRPr sz="1600">
                          <a:solidFill>
                            <a:srgbClr val="1A1A1A"/>
                          </a:solidFill>
                          <a:latin typeface="Calibri"/>
                        </a:defRPr>
                      </a:pPr>
                      <a:r>
                        <a:t>n (%)</a:t>
                      </a:r>
                    </a:p>
                  </a:txBody>
                  <a:tcPr marL="91440" marR="91440" marT="27432" marB="27432" anchor="ctr">
                    <a:solidFill>
                      <a:srgbClr val="FFFFFF"/>
                    </a:solidFill>
                  </a:tcPr>
                </a:tc>
              </a:tr>
              <a:tr h="713232">
                <a:tc>
                  <a:txBody>
                    <a:bodyPr/>
                    <a:lstStyle/>
                    <a:p>
                      <a:pPr>
                        <a:defRPr sz="1600" b="1">
                          <a:solidFill>
                            <a:srgbClr val="1F3864"/>
                          </a:solidFill>
                          <a:latin typeface="Calibri"/>
                        </a:defRPr>
                      </a:pPr>
                      <a:r>
                        <a:t>Ordinal</a:t>
                      </a:r>
                    </a:p>
                  </a:txBody>
                  <a:tcPr marL="91440" marR="91440" marT="27432" marB="27432" anchor="ctr">
                    <a:solidFill>
                      <a:srgbClr val="EDF2F7"/>
                    </a:solidFill>
                  </a:tcPr>
                </a:tc>
                <a:tc>
                  <a:txBody>
                    <a:bodyPr/>
                    <a:lstStyle/>
                    <a:p>
                      <a:pPr>
                        <a:defRPr sz="1600">
                          <a:solidFill>
                            <a:srgbClr val="1A1A1A"/>
                          </a:solidFill>
                          <a:latin typeface="Calibri"/>
                        </a:defRPr>
                      </a:pPr>
                      <a:r>
                        <a:t>Categories WITH order</a:t>
                      </a:r>
                    </a:p>
                  </a:txBody>
                  <a:tcPr marL="91440" marR="91440" marT="27432" marB="27432" anchor="ctr">
                    <a:solidFill>
                      <a:srgbClr val="EDF2F7"/>
                    </a:solidFill>
                  </a:tcPr>
                </a:tc>
                <a:tc>
                  <a:txBody>
                    <a:bodyPr/>
                    <a:lstStyle/>
                    <a:p>
                      <a:pPr>
                        <a:defRPr sz="1600">
                          <a:solidFill>
                            <a:srgbClr val="1A1A1A"/>
                          </a:solidFill>
                          <a:latin typeface="Calibri"/>
                        </a:defRPr>
                      </a:pPr>
                      <a:r>
                        <a:t>Smear grade, education level</a:t>
                      </a:r>
                    </a:p>
                  </a:txBody>
                  <a:tcPr marL="91440" marR="91440" marT="27432" marB="27432" anchor="ctr">
                    <a:solidFill>
                      <a:srgbClr val="EDF2F7"/>
                    </a:solidFill>
                  </a:tcPr>
                </a:tc>
                <a:tc>
                  <a:txBody>
                    <a:bodyPr/>
                    <a:lstStyle/>
                    <a:p>
                      <a:pPr>
                        <a:defRPr sz="1600">
                          <a:solidFill>
                            <a:srgbClr val="1A1A1A"/>
                          </a:solidFill>
                          <a:latin typeface="Calibri"/>
                        </a:defRPr>
                      </a:pPr>
                      <a:r>
                        <a:t>n (%) or median</a:t>
                      </a:r>
                    </a:p>
                  </a:txBody>
                  <a:tcPr marL="91440" marR="91440" marT="27432" marB="27432" anchor="ctr">
                    <a:solidFill>
                      <a:srgbClr val="EDF2F7"/>
                    </a:solidFill>
                  </a:tcPr>
                </a:tc>
              </a:tr>
              <a:tr h="713232">
                <a:tc>
                  <a:txBody>
                    <a:bodyPr/>
                    <a:lstStyle/>
                    <a:p>
                      <a:pPr>
                        <a:defRPr sz="1600" b="1">
                          <a:solidFill>
                            <a:srgbClr val="1F3864"/>
                          </a:solidFill>
                          <a:latin typeface="Calibri"/>
                        </a:defRPr>
                      </a:pPr>
                      <a:r>
                        <a:t>Discrete</a:t>
                      </a:r>
                    </a:p>
                  </a:txBody>
                  <a:tcPr marL="91440" marR="91440" marT="27432" marB="27432" anchor="ctr">
                    <a:solidFill>
                      <a:srgbClr val="FFFFFF"/>
                    </a:solidFill>
                  </a:tcPr>
                </a:tc>
                <a:tc>
                  <a:txBody>
                    <a:bodyPr/>
                    <a:lstStyle/>
                    <a:p>
                      <a:pPr>
                        <a:defRPr sz="1600">
                          <a:solidFill>
                            <a:srgbClr val="1A1A1A"/>
                          </a:solidFill>
                          <a:latin typeface="Calibri"/>
                        </a:defRPr>
                      </a:pPr>
                      <a:r>
                        <a:t>Counted whole numbers</a:t>
                      </a:r>
                    </a:p>
                  </a:txBody>
                  <a:tcPr marL="91440" marR="91440" marT="27432" marB="27432" anchor="ctr">
                    <a:solidFill>
                      <a:srgbClr val="FFFFFF"/>
                    </a:solidFill>
                  </a:tcPr>
                </a:tc>
                <a:tc>
                  <a:txBody>
                    <a:bodyPr/>
                    <a:lstStyle/>
                    <a:p>
                      <a:pPr>
                        <a:defRPr sz="1600">
                          <a:solidFill>
                            <a:srgbClr val="1A1A1A"/>
                          </a:solidFill>
                          <a:latin typeface="Calibri"/>
                        </a:defRPr>
                      </a:pPr>
                      <a:r>
                        <a:t>Visits, days, household size</a:t>
                      </a:r>
                    </a:p>
                  </a:txBody>
                  <a:tcPr marL="91440" marR="91440" marT="27432" marB="27432" anchor="ctr">
                    <a:solidFill>
                      <a:srgbClr val="FFFFFF"/>
                    </a:solidFill>
                  </a:tcPr>
                </a:tc>
                <a:tc>
                  <a:txBody>
                    <a:bodyPr/>
                    <a:lstStyle/>
                    <a:p>
                      <a:pPr>
                        <a:defRPr sz="1600">
                          <a:solidFill>
                            <a:srgbClr val="1A1A1A"/>
                          </a:solidFill>
                          <a:latin typeface="Calibri"/>
                        </a:defRPr>
                      </a:pPr>
                      <a:r>
                        <a:t>Median (IQR)</a:t>
                      </a:r>
                    </a:p>
                  </a:txBody>
                  <a:tcPr marL="91440" marR="91440" marT="27432" marB="27432" anchor="ctr">
                    <a:solidFill>
                      <a:srgbClr val="FFFFFF"/>
                    </a:solidFill>
                  </a:tcPr>
                </a:tc>
              </a:tr>
              <a:tr h="713232">
                <a:tc>
                  <a:txBody>
                    <a:bodyPr/>
                    <a:lstStyle/>
                    <a:p>
                      <a:pPr>
                        <a:defRPr sz="1600" b="1">
                          <a:solidFill>
                            <a:srgbClr val="1F3864"/>
                          </a:solidFill>
                          <a:latin typeface="Calibri"/>
                        </a:defRPr>
                      </a:pPr>
                      <a:r>
                        <a:t>Continuous</a:t>
                      </a:r>
                    </a:p>
                  </a:txBody>
                  <a:tcPr marL="91440" marR="91440" marT="27432" marB="27432" anchor="ctr">
                    <a:solidFill>
                      <a:srgbClr val="EDF2F7"/>
                    </a:solidFill>
                  </a:tcPr>
                </a:tc>
                <a:tc>
                  <a:txBody>
                    <a:bodyPr/>
                    <a:lstStyle/>
                    <a:p>
                      <a:pPr>
                        <a:defRPr sz="1600">
                          <a:solidFill>
                            <a:srgbClr val="1A1A1A"/>
                          </a:solidFill>
                          <a:latin typeface="Calibri"/>
                        </a:defRPr>
                      </a:pPr>
                      <a:r>
                        <a:t>Measured, can have decimals</a:t>
                      </a:r>
                    </a:p>
                  </a:txBody>
                  <a:tcPr marL="91440" marR="91440" marT="27432" marB="27432" anchor="ctr">
                    <a:solidFill>
                      <a:srgbClr val="EDF2F7"/>
                    </a:solidFill>
                  </a:tcPr>
                </a:tc>
                <a:tc>
                  <a:txBody>
                    <a:bodyPr/>
                    <a:lstStyle/>
                    <a:p>
                      <a:pPr>
                        <a:defRPr sz="1600">
                          <a:solidFill>
                            <a:srgbClr val="1A1A1A"/>
                          </a:solidFill>
                          <a:latin typeface="Calibri"/>
                        </a:defRPr>
                      </a:pPr>
                      <a:r>
                        <a:t>Age, weight, distance</a:t>
                      </a:r>
                    </a:p>
                  </a:txBody>
                  <a:tcPr marL="91440" marR="91440" marT="27432" marB="27432" anchor="ctr">
                    <a:solidFill>
                      <a:srgbClr val="EDF2F7"/>
                    </a:solidFill>
                  </a:tcPr>
                </a:tc>
                <a:tc>
                  <a:txBody>
                    <a:bodyPr/>
                    <a:lstStyle/>
                    <a:p>
                      <a:pPr>
                        <a:defRPr sz="1600">
                          <a:solidFill>
                            <a:srgbClr val="1A1A1A"/>
                          </a:solidFill>
                          <a:latin typeface="Calibri"/>
                        </a:defRPr>
                      </a:pPr>
                      <a:r>
                        <a:t>Mean (SD) or median (IQR)</a:t>
                      </a:r>
                    </a:p>
                  </a:txBody>
                  <a:tcPr marL="91440" marR="91440" marT="27432" marB="27432" anchor="ctr">
                    <a:solidFill>
                      <a:srgbClr val="EDF2F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103120"/>
            <a:ext cx="9784080" cy="2926080"/>
          </a:xfrm>
          <a:prstGeom prst="rect">
            <a:avLst/>
          </a:prstGeom>
          <a:noFill/>
        </p:spPr>
        <p:txBody>
          <a:bodyPr wrap="square" anchor="ctr" lIns="0" rIns="0" tIns="0" bIns="0">
            <a:spAutoFit/>
          </a:bodyPr>
          <a:lstStyle/>
          <a:p>
            <a:pPr algn="ctr">
              <a:lnSpc>
                <a:spcPct val="115000"/>
              </a:lnSpc>
            </a:pPr>
            <a:r>
              <a:rPr sz="4400" b="1" i="0">
                <a:solidFill>
                  <a:srgbClr val="FFFFFF"/>
                </a:solidFill>
                <a:latin typeface="Calibri"/>
              </a:rPr>
              <a:t>What is the average sex?</a:t>
            </a:r>
          </a:p>
          <a:p>
            <a:pPr algn="ctr">
              <a:lnSpc>
                <a:spcPct val="115000"/>
              </a:lnSpc>
              <a:spcBef>
                <a:spcPts val="2200"/>
              </a:spcBef>
            </a:pPr>
            <a:r>
              <a:rPr sz="2000" b="0" i="1">
                <a:solidFill>
                  <a:srgbClr val="444444"/>
                </a:solidFill>
                <a:latin typeface="Calibri"/>
              </a:rPr>
              <a:t>If your database stores sex as 1 = male and 2 = female, the mean is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6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B3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77240"/>
            <a:ext cx="10058400" cy="365760"/>
          </a:xfrm>
          <a:prstGeom prst="rect">
            <a:avLst/>
          </a:prstGeom>
          <a:noFill/>
        </p:spPr>
        <p:txBody>
          <a:bodyPr wrap="square" anchor="t" lIns="0" rIns="0" tIns="0" bIns="0">
            <a:spAutoFit/>
          </a:bodyPr>
          <a:lstStyle/>
          <a:p>
            <a:pPr algn="l">
              <a:lnSpc>
                <a:spcPct val="100000"/>
              </a:lnSpc>
            </a:pPr>
            <a:r>
              <a:rPr sz="1400" b="1" i="0">
                <a:solidFill>
                  <a:srgbClr val="B37A00"/>
                </a:solidFill>
                <a:latin typeface="Calibri"/>
              </a:rPr>
              <a:t>ACTIVITY 1   •   10 minutes</a:t>
            </a:r>
          </a:p>
        </p:txBody>
      </p:sp>
      <p:sp>
        <p:nvSpPr>
          <p:cNvPr id="5" name="TextBox 4"/>
          <p:cNvSpPr txBox="1"/>
          <p:nvPr/>
        </p:nvSpPr>
        <p:spPr>
          <a:xfrm>
            <a:off x="914400" y="1234440"/>
            <a:ext cx="10058400" cy="1005840"/>
          </a:xfrm>
          <a:prstGeom prst="rect">
            <a:avLst/>
          </a:prstGeom>
          <a:noFill/>
        </p:spPr>
        <p:txBody>
          <a:bodyPr wrap="square" anchor="t" lIns="0" rIns="0" tIns="0" bIns="0">
            <a:spAutoFit/>
          </a:bodyPr>
          <a:lstStyle/>
          <a:p>
            <a:pPr algn="l">
              <a:lnSpc>
                <a:spcPct val="105000"/>
              </a:lnSpc>
            </a:pPr>
            <a:r>
              <a:rPr sz="4000" b="1" i="0">
                <a:solidFill>
                  <a:srgbClr val="1F3864"/>
                </a:solidFill>
                <a:latin typeface="Calibri"/>
              </a:rPr>
              <a:t>The Variable Type Race</a:t>
            </a:r>
          </a:p>
        </p:txBody>
      </p:sp>
      <p:sp>
        <p:nvSpPr>
          <p:cNvPr id="6" name="TextBox 5"/>
          <p:cNvSpPr txBox="1"/>
          <p:nvPr/>
        </p:nvSpPr>
        <p:spPr>
          <a:xfrm>
            <a:off x="914400" y="2743200"/>
            <a:ext cx="10058400" cy="3200400"/>
          </a:xfrm>
          <a:prstGeom prst="rect">
            <a:avLst/>
          </a:prstGeom>
          <a:noFill/>
        </p:spPr>
        <p:txBody>
          <a:bodyPr wrap="square" anchor="t" lIns="0" rIns="0" tIns="0" bIns="0">
            <a:spAutoFit/>
          </a:bodyPr>
          <a:lstStyle/>
          <a:p>
            <a:pPr algn="l">
              <a:lnSpc>
                <a:spcPct val="125000"/>
              </a:lnSpc>
            </a:pPr>
            <a:r>
              <a:rPr sz="1900" b="0" i="0">
                <a:solidFill>
                  <a:srgbClr val="1A1A1A"/>
                </a:solidFill>
                <a:latin typeface="Calibri"/>
              </a:rPr>
              <a:t>1.   In your table, sort all 24 cards under the four headers</a:t>
            </a:r>
          </a:p>
          <a:p>
            <a:pPr algn="l">
              <a:lnSpc>
                <a:spcPct val="125000"/>
              </a:lnSpc>
              <a:spcBef>
                <a:spcPts val="1600"/>
              </a:spcBef>
            </a:pPr>
            <a:r>
              <a:rPr sz="1900" b="0" i="0">
                <a:solidFill>
                  <a:srgbClr val="1A1A1A"/>
                </a:solidFill>
                <a:latin typeface="Calibri"/>
              </a:rPr>
              <a:t>2.   First table to finish calls out — but do not expect to be right</a:t>
            </a:r>
          </a:p>
          <a:p>
            <a:pPr algn="l">
              <a:lnSpc>
                <a:spcPct val="125000"/>
              </a:lnSpc>
              <a:spcBef>
                <a:spcPts val="1600"/>
              </a:spcBef>
            </a:pPr>
            <a:r>
              <a:rPr sz="1900" b="0" i="0">
                <a:solidFill>
                  <a:srgbClr val="1A1A1A"/>
                </a:solidFill>
                <a:latin typeface="Calibri"/>
              </a:rPr>
              <a:t>3.   Then challenge your neighbour's sort. Three challenges each</a:t>
            </a:r>
          </a:p>
          <a:p>
            <a:pPr algn="l">
              <a:lnSpc>
                <a:spcPct val="125000"/>
              </a:lnSpc>
              <a:spcBef>
                <a:spcPts val="1600"/>
              </a:spcBef>
            </a:pPr>
            <a:r>
              <a:rPr sz="1900" b="0" i="0">
                <a:solidFill>
                  <a:srgbClr val="1A1A1A"/>
                </a:solidFill>
                <a:latin typeface="Calibri"/>
              </a:rPr>
              <a:t>4.   2 bonus points for every successful challenge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square" anchor="t" lIns="0" rIns="0" tIns="0" bIns="0">
            <a:spAutoFit/>
          </a:bodyPr>
          <a:lstStyle/>
          <a:p>
            <a:pPr algn="l">
              <a:lnSpc>
                <a:spcPct val="100000"/>
              </a:lnSpc>
            </a:pPr>
            <a:r>
              <a:rPr sz="1500" b="1" i="0">
                <a:solidFill>
                  <a:srgbClr val="B8E4DD"/>
                </a:solidFill>
                <a:latin typeface="Calibri"/>
              </a:rPr>
              <a:t>Rule 2</a:t>
            </a:r>
          </a:p>
        </p:txBody>
      </p:sp>
      <p:sp>
        <p:nvSpPr>
          <p:cNvPr id="4" name="TextBox 3"/>
          <p:cNvSpPr txBox="1"/>
          <p:nvPr/>
        </p:nvSpPr>
        <p:spPr>
          <a:xfrm>
            <a:off x="822960" y="2606040"/>
            <a:ext cx="10515600" cy="1645920"/>
          </a:xfrm>
          <a:prstGeom prst="rect">
            <a:avLst/>
          </a:prstGeom>
          <a:noFill/>
        </p:spPr>
        <p:txBody>
          <a:bodyPr wrap="square" anchor="t" lIns="0" rIns="0" tIns="0" bIns="0">
            <a:spAutoFit/>
          </a:bodyPr>
          <a:lstStyle/>
          <a:p>
            <a:pPr algn="l">
              <a:lnSpc>
                <a:spcPct val="105000"/>
              </a:lnSpc>
            </a:pPr>
            <a:r>
              <a:rPr sz="4200" b="1" i="0">
                <a:solidFill>
                  <a:srgbClr val="FFFFFF"/>
                </a:solidFill>
                <a:latin typeface="Calibri"/>
              </a:rPr>
              <a:t>Mean or median?</a:t>
            </a:r>
          </a:p>
        </p:txBody>
      </p:sp>
      <p:sp>
        <p:nvSpPr>
          <p:cNvPr id="5" name="TextBox 4"/>
          <p:cNvSpPr txBox="1"/>
          <p:nvPr/>
        </p:nvSpPr>
        <p:spPr>
          <a:xfrm>
            <a:off x="822960" y="4160520"/>
            <a:ext cx="9601200" cy="914400"/>
          </a:xfrm>
          <a:prstGeom prst="rect">
            <a:avLst/>
          </a:prstGeom>
          <a:noFill/>
        </p:spPr>
        <p:txBody>
          <a:bodyPr wrap="square" anchor="t" lIns="0" rIns="0" tIns="0" bIns="0">
            <a:spAutoFit/>
          </a:bodyPr>
          <a:lstStyle/>
          <a:p>
            <a:pPr algn="l">
              <a:lnSpc>
                <a:spcPct val="100000"/>
              </a:lnSpc>
            </a:pPr>
            <a:r>
              <a:rPr sz="1900" b="0" i="1">
                <a:solidFill>
                  <a:srgbClr val="D6EFEA"/>
                </a:solidFill>
                <a:latin typeface="Calibri"/>
              </a:rPr>
              <a:t>The wrong average tells your reader something untrue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RULE 2</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Same 180 patients. Two different 'typical' values.</a:t>
            </a:r>
          </a:p>
        </p:txBody>
      </p:sp>
      <p:pic>
        <p:nvPicPr>
          <p:cNvPr id="6" name="Picture 5" descr="cured_4.png"/>
          <p:cNvPicPr>
            <a:picLocks noChangeAspect="1"/>
          </p:cNvPicPr>
          <p:nvPr/>
        </p:nvPicPr>
        <p:blipFill>
          <a:blip r:embed="rId2"/>
          <a:stretch>
            <a:fillRect/>
          </a:stretch>
        </p:blipFill>
        <p:spPr>
          <a:xfrm>
            <a:off x="2928156" y="1417320"/>
            <a:ext cx="6335383" cy="4572000"/>
          </a:xfrm>
          <a:prstGeom prst="rect">
            <a:avLst/>
          </a:prstGeom>
        </p:spPr>
      </p:pic>
      <p:sp>
        <p:nvSpPr>
          <p:cNvPr id="7" name="TextBox 6"/>
          <p:cNvSpPr txBox="1"/>
          <p:nvPr/>
        </p:nvSpPr>
        <p:spPr>
          <a:xfrm>
            <a:off x="914400" y="6108192"/>
            <a:ext cx="10332720" cy="457200"/>
          </a:xfrm>
          <a:prstGeom prst="rect">
            <a:avLst/>
          </a:prstGeom>
          <a:noFill/>
        </p:spPr>
        <p:txBody>
          <a:bodyPr wrap="square" anchor="t" lIns="0" rIns="0" tIns="0" bIns="0">
            <a:spAutoFit/>
          </a:bodyPr>
          <a:lstStyle/>
          <a:p>
            <a:pPr algn="ctr">
              <a:lnSpc>
                <a:spcPct val="100000"/>
              </a:lnSpc>
            </a:pPr>
            <a:r>
              <a:rPr sz="1400" b="0" i="1">
                <a:solidFill>
                  <a:srgbClr val="5A5A5A"/>
                </a:solidFill>
                <a:latin typeface="Calibri"/>
              </a:rPr>
              <a:t>Distance to facility, by treatment outcome — note how far the boxes overlap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RULE 2</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The rule, in one table</a:t>
            </a:r>
          </a:p>
        </p:txBody>
      </p:sp>
      <p:graphicFrame>
        <p:nvGraphicFramePr>
          <p:cNvPr id="6" name="Table 5"/>
          <p:cNvGraphicFramePr>
            <a:graphicFrameLocks noGrp="1"/>
          </p:cNvGraphicFramePr>
          <p:nvPr/>
        </p:nvGraphicFramePr>
        <p:xfrm>
          <a:off x="685800" y="2171700"/>
          <a:ext cx="10835639" cy="3566160"/>
        </p:xfrm>
        <a:graphic>
          <a:graphicData uri="http://schemas.openxmlformats.org/drawingml/2006/table">
            <a:tbl>
              <a:tblPr firstRow="1" bandRow="1">
                <a:tableStyleId>{5C22544A-7EE6-4342-B048-85BDC9FD1C3A}</a:tableStyleId>
              </a:tblPr>
              <a:tblGrid>
                <a:gridCol w="3250692"/>
                <a:gridCol w="1950415"/>
                <a:gridCol w="5634532"/>
              </a:tblGrid>
              <a:tr h="713232">
                <a:tc>
                  <a:txBody>
                    <a:bodyPr/>
                    <a:lstStyle/>
                    <a:p>
                      <a:pPr>
                        <a:defRPr sz="1500" b="1">
                          <a:solidFill>
                            <a:srgbClr val="FFFFFF"/>
                          </a:solidFill>
                          <a:latin typeface="Calibri"/>
                        </a:defRPr>
                      </a:pPr>
                      <a:r>
                        <a:t>Your data are…</a:t>
                      </a:r>
                    </a:p>
                  </a:txBody>
                  <a:tcPr marL="91440" marR="91440" anchor="ctr">
                    <a:solidFill>
                      <a:srgbClr val="1F3864"/>
                    </a:solidFill>
                  </a:tcPr>
                </a:tc>
                <a:tc>
                  <a:txBody>
                    <a:bodyPr/>
                    <a:lstStyle/>
                    <a:p>
                      <a:pPr>
                        <a:defRPr sz="1500" b="1">
                          <a:solidFill>
                            <a:srgbClr val="FFFFFF"/>
                          </a:solidFill>
                          <a:latin typeface="Calibri"/>
                        </a:defRPr>
                      </a:pPr>
                      <a:r>
                        <a:t>Use</a:t>
                      </a:r>
                    </a:p>
                  </a:txBody>
                  <a:tcPr marL="91440" marR="91440" anchor="ctr">
                    <a:solidFill>
                      <a:srgbClr val="1F3864"/>
                    </a:solidFill>
                  </a:tcPr>
                </a:tc>
                <a:tc>
                  <a:txBody>
                    <a:bodyPr/>
                    <a:lstStyle/>
                    <a:p>
                      <a:pPr>
                        <a:defRPr sz="1500" b="1">
                          <a:solidFill>
                            <a:srgbClr val="FFFFFF"/>
                          </a:solidFill>
                          <a:latin typeface="Calibri"/>
                        </a:defRPr>
                      </a:pPr>
                      <a:r>
                        <a:t>Report as</a:t>
                      </a:r>
                    </a:p>
                  </a:txBody>
                  <a:tcPr marL="91440" marR="91440" anchor="ctr">
                    <a:solidFill>
                      <a:srgbClr val="1F3864"/>
                    </a:solidFill>
                  </a:tcPr>
                </a:tc>
              </a:tr>
              <a:tr h="713232">
                <a:tc>
                  <a:txBody>
                    <a:bodyPr/>
                    <a:lstStyle/>
                    <a:p>
                      <a:pPr>
                        <a:defRPr sz="1700">
                          <a:solidFill>
                            <a:srgbClr val="1A1A1A"/>
                          </a:solidFill>
                          <a:latin typeface="Calibri"/>
                        </a:defRPr>
                      </a:pPr>
                      <a:r>
                        <a:t>Symmetric</a:t>
                      </a:r>
                    </a:p>
                  </a:txBody>
                  <a:tcPr marL="91440" marR="91440" marT="27432" marB="27432" anchor="ctr">
                    <a:solidFill>
                      <a:srgbClr val="FFFFFF"/>
                    </a:solidFill>
                  </a:tcPr>
                </a:tc>
                <a:tc>
                  <a:txBody>
                    <a:bodyPr/>
                    <a:lstStyle/>
                    <a:p>
                      <a:pPr>
                        <a:defRPr sz="1700" b="1">
                          <a:solidFill>
                            <a:srgbClr val="1F3864"/>
                          </a:solidFill>
                          <a:latin typeface="Calibri"/>
                        </a:defRPr>
                      </a:pPr>
                      <a:r>
                        <a:t>Mean</a:t>
                      </a:r>
                    </a:p>
                  </a:txBody>
                  <a:tcPr marL="91440" marR="91440" marT="27432" marB="27432" anchor="ctr">
                    <a:solidFill>
                      <a:srgbClr val="FFFFFF"/>
                    </a:solidFill>
                  </a:tcPr>
                </a:tc>
                <a:tc>
                  <a:txBody>
                    <a:bodyPr/>
                    <a:lstStyle/>
                    <a:p>
                      <a:pPr>
                        <a:defRPr sz="1700">
                          <a:solidFill>
                            <a:srgbClr val="1A1A1A"/>
                          </a:solidFill>
                          <a:latin typeface="Calibri"/>
                        </a:defRPr>
                      </a:pPr>
                      <a:r>
                        <a:t>Mean (SD)  —  e.g. 48.5 kg (SD 9.1)</a:t>
                      </a:r>
                    </a:p>
                  </a:txBody>
                  <a:tcPr marL="91440" marR="91440" marT="27432" marB="27432" anchor="ctr">
                    <a:solidFill>
                      <a:srgbClr val="FFFFFF"/>
                    </a:solidFill>
                  </a:tcPr>
                </a:tc>
              </a:tr>
              <a:tr h="713232">
                <a:tc>
                  <a:txBody>
                    <a:bodyPr/>
                    <a:lstStyle/>
                    <a:p>
                      <a:pPr>
                        <a:defRPr sz="1700">
                          <a:solidFill>
                            <a:srgbClr val="1A1A1A"/>
                          </a:solidFill>
                          <a:latin typeface="Calibri"/>
                        </a:defRPr>
                      </a:pPr>
                      <a:r>
                        <a:t>Skewed, or has outliers</a:t>
                      </a:r>
                    </a:p>
                  </a:txBody>
                  <a:tcPr marL="91440" marR="91440" marT="27432" marB="27432" anchor="ctr">
                    <a:solidFill>
                      <a:srgbClr val="EDF2F7"/>
                    </a:solidFill>
                  </a:tcPr>
                </a:tc>
                <a:tc>
                  <a:txBody>
                    <a:bodyPr/>
                    <a:lstStyle/>
                    <a:p>
                      <a:pPr>
                        <a:defRPr sz="1700" b="1">
                          <a:solidFill>
                            <a:srgbClr val="1F3864"/>
                          </a:solidFill>
                          <a:latin typeface="Calibri"/>
                        </a:defRPr>
                      </a:pPr>
                      <a:r>
                        <a:t>Median</a:t>
                      </a:r>
                    </a:p>
                  </a:txBody>
                  <a:tcPr marL="91440" marR="91440" marT="27432" marB="27432" anchor="ctr">
                    <a:solidFill>
                      <a:srgbClr val="EDF2F7"/>
                    </a:solidFill>
                  </a:tcPr>
                </a:tc>
                <a:tc>
                  <a:txBody>
                    <a:bodyPr/>
                    <a:lstStyle/>
                    <a:p>
                      <a:pPr>
                        <a:defRPr sz="1700">
                          <a:solidFill>
                            <a:srgbClr val="1A1A1A"/>
                          </a:solidFill>
                          <a:latin typeface="Calibri"/>
                        </a:defRPr>
                      </a:pPr>
                      <a:r>
                        <a:t>Median (IQR)  —  e.g. 7.0 km (4.2–9.8)</a:t>
                      </a:r>
                    </a:p>
                  </a:txBody>
                  <a:tcPr marL="91440" marR="91440" marT="27432" marB="27432" anchor="ctr">
                    <a:solidFill>
                      <a:srgbClr val="EDF2F7"/>
                    </a:solidFill>
                  </a:tcPr>
                </a:tc>
              </a:tr>
              <a:tr h="713232">
                <a:tc>
                  <a:txBody>
                    <a:bodyPr/>
                    <a:lstStyle/>
                    <a:p>
                      <a:pPr>
                        <a:defRPr sz="1700">
                          <a:solidFill>
                            <a:srgbClr val="1A1A1A"/>
                          </a:solidFill>
                          <a:latin typeface="Calibri"/>
                        </a:defRPr>
                      </a:pPr>
                      <a:r>
                        <a:t>Ordinal</a:t>
                      </a:r>
                    </a:p>
                  </a:txBody>
                  <a:tcPr marL="91440" marR="91440" marT="27432" marB="27432" anchor="ctr">
                    <a:solidFill>
                      <a:srgbClr val="FFFFFF"/>
                    </a:solidFill>
                  </a:tcPr>
                </a:tc>
                <a:tc>
                  <a:txBody>
                    <a:bodyPr/>
                    <a:lstStyle/>
                    <a:p>
                      <a:pPr>
                        <a:defRPr sz="1700" b="1">
                          <a:solidFill>
                            <a:srgbClr val="1F3864"/>
                          </a:solidFill>
                          <a:latin typeface="Calibri"/>
                        </a:defRPr>
                      </a:pPr>
                      <a:r>
                        <a:t>Median</a:t>
                      </a:r>
                    </a:p>
                  </a:txBody>
                  <a:tcPr marL="91440" marR="91440" marT="27432" marB="27432" anchor="ctr">
                    <a:solidFill>
                      <a:srgbClr val="FFFFFF"/>
                    </a:solidFill>
                  </a:tcPr>
                </a:tc>
                <a:tc>
                  <a:txBody>
                    <a:bodyPr/>
                    <a:lstStyle/>
                    <a:p>
                      <a:pPr>
                        <a:defRPr sz="1700">
                          <a:solidFill>
                            <a:srgbClr val="1A1A1A"/>
                          </a:solidFill>
                          <a:latin typeface="Calibri"/>
                        </a:defRPr>
                      </a:pPr>
                      <a:r>
                        <a:t>Or simply n (%)</a:t>
                      </a:r>
                    </a:p>
                  </a:txBody>
                  <a:tcPr marL="91440" marR="91440" marT="27432" marB="27432" anchor="ctr">
                    <a:solidFill>
                      <a:srgbClr val="FFFFFF"/>
                    </a:solidFill>
                  </a:tcPr>
                </a:tc>
              </a:tr>
              <a:tr h="713232">
                <a:tc>
                  <a:txBody>
                    <a:bodyPr/>
                    <a:lstStyle/>
                    <a:p>
                      <a:pPr>
                        <a:defRPr sz="1700">
                          <a:solidFill>
                            <a:srgbClr val="1A1A1A"/>
                          </a:solidFill>
                          <a:latin typeface="Calibri"/>
                        </a:defRPr>
                      </a:pPr>
                      <a:r>
                        <a:t>Nominal</a:t>
                      </a:r>
                    </a:p>
                  </a:txBody>
                  <a:tcPr marL="91440" marR="91440" marT="27432" marB="27432" anchor="ctr">
                    <a:solidFill>
                      <a:srgbClr val="EDF2F7"/>
                    </a:solidFill>
                  </a:tcPr>
                </a:tc>
                <a:tc>
                  <a:txBody>
                    <a:bodyPr/>
                    <a:lstStyle/>
                    <a:p>
                      <a:pPr>
                        <a:defRPr sz="1700" b="1">
                          <a:solidFill>
                            <a:srgbClr val="1F3864"/>
                          </a:solidFill>
                          <a:latin typeface="Calibri"/>
                        </a:defRPr>
                      </a:pPr>
                      <a:r>
                        <a:t>Neither</a:t>
                      </a:r>
                    </a:p>
                  </a:txBody>
                  <a:tcPr marL="91440" marR="91440" marT="27432" marB="27432" anchor="ctr">
                    <a:solidFill>
                      <a:srgbClr val="EDF2F7"/>
                    </a:solidFill>
                  </a:tcPr>
                </a:tc>
                <a:tc>
                  <a:txBody>
                    <a:bodyPr/>
                    <a:lstStyle/>
                    <a:p>
                      <a:pPr>
                        <a:defRPr sz="1700">
                          <a:solidFill>
                            <a:srgbClr val="1A1A1A"/>
                          </a:solidFill>
                          <a:latin typeface="Calibri"/>
                        </a:defRPr>
                      </a:pPr>
                      <a:r>
                        <a:t>n (%)  —  e.g. 104 (57.8%)</a:t>
                      </a:r>
                    </a:p>
                  </a:txBody>
                  <a:tcPr marL="91440" marR="91440" marT="27432" marB="27432" anchor="ctr">
                    <a:solidFill>
                      <a:srgbClr val="EDF2F7"/>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914400"/>
          </a:xfrm>
          <a:prstGeom prst="rect">
            <a:avLst/>
          </a:prstGeom>
          <a:noFill/>
        </p:spPr>
        <p:txBody>
          <a:bodyPr wrap="square" anchor="t" lIns="0" rIns="0" tIns="0" bIns="0">
            <a:spAutoFit/>
          </a:bodyPr>
          <a:lstStyle/>
          <a:p>
            <a:pPr algn="l">
              <a:lnSpc>
                <a:spcPct val="100000"/>
              </a:lnSpc>
            </a:pPr>
            <a:r>
              <a:rPr sz="1500" b="1" i="0">
                <a:solidFill>
                  <a:srgbClr val="B8E4DD"/>
                </a:solidFill>
                <a:latin typeface="Calibri"/>
              </a:rPr>
              <a:t>Rule 3</a:t>
            </a:r>
          </a:p>
        </p:txBody>
      </p:sp>
      <p:sp>
        <p:nvSpPr>
          <p:cNvPr id="4" name="TextBox 3"/>
          <p:cNvSpPr txBox="1"/>
          <p:nvPr/>
        </p:nvSpPr>
        <p:spPr>
          <a:xfrm>
            <a:off x="822960" y="2606040"/>
            <a:ext cx="10515600" cy="1645920"/>
          </a:xfrm>
          <a:prstGeom prst="rect">
            <a:avLst/>
          </a:prstGeom>
          <a:noFill/>
        </p:spPr>
        <p:txBody>
          <a:bodyPr wrap="square" anchor="t" lIns="0" rIns="0" tIns="0" bIns="0">
            <a:spAutoFit/>
          </a:bodyPr>
          <a:lstStyle/>
          <a:p>
            <a:pPr algn="l">
              <a:lnSpc>
                <a:spcPct val="105000"/>
              </a:lnSpc>
            </a:pPr>
            <a:r>
              <a:rPr sz="4200" b="1" i="0">
                <a:solidFill>
                  <a:srgbClr val="FFFFFF"/>
                </a:solidFill>
                <a:latin typeface="Calibri"/>
              </a:rPr>
              <a:t>State your denominator</a:t>
            </a:r>
          </a:p>
        </p:txBody>
      </p:sp>
      <p:sp>
        <p:nvSpPr>
          <p:cNvPr id="5" name="TextBox 4"/>
          <p:cNvSpPr txBox="1"/>
          <p:nvPr/>
        </p:nvSpPr>
        <p:spPr>
          <a:xfrm>
            <a:off x="822960" y="4160520"/>
            <a:ext cx="9601200" cy="914400"/>
          </a:xfrm>
          <a:prstGeom prst="rect">
            <a:avLst/>
          </a:prstGeom>
          <a:noFill/>
        </p:spPr>
        <p:txBody>
          <a:bodyPr wrap="square" anchor="t" lIns="0" rIns="0" tIns="0" bIns="0">
            <a:spAutoFit/>
          </a:bodyPr>
          <a:lstStyle/>
          <a:p>
            <a:pPr algn="l">
              <a:lnSpc>
                <a:spcPct val="100000"/>
              </a:lnSpc>
            </a:pPr>
            <a:r>
              <a:rPr sz="1900" b="0" i="1">
                <a:solidFill>
                  <a:srgbClr val="D6EFEA"/>
                </a:solidFill>
                <a:latin typeface="Calibri"/>
              </a:rPr>
              <a:t>The most common error in operational research — and the most damaging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RULE 3</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180 patients. 126 successes. What is the success rate?</a:t>
            </a:r>
          </a:p>
        </p:txBody>
      </p:sp>
      <p:graphicFrame>
        <p:nvGraphicFramePr>
          <p:cNvPr id="6" name="Table 5"/>
          <p:cNvGraphicFramePr>
            <a:graphicFrameLocks noGrp="1"/>
          </p:cNvGraphicFramePr>
          <p:nvPr/>
        </p:nvGraphicFramePr>
        <p:xfrm>
          <a:off x="685800" y="2528316"/>
          <a:ext cx="10835639" cy="2852928"/>
        </p:xfrm>
        <a:graphic>
          <a:graphicData uri="http://schemas.openxmlformats.org/drawingml/2006/table">
            <a:tbl>
              <a:tblPr firstRow="1" bandRow="1">
                <a:tableStyleId>{5C22544A-7EE6-4342-B048-85BDC9FD1C3A}</a:tableStyleId>
              </a:tblPr>
              <a:tblGrid>
                <a:gridCol w="3033979"/>
                <a:gridCol w="866851"/>
                <a:gridCol w="1516989"/>
                <a:gridCol w="5417820"/>
              </a:tblGrid>
              <a:tr h="713232">
                <a:tc>
                  <a:txBody>
                    <a:bodyPr/>
                    <a:lstStyle/>
                    <a:p>
                      <a:pPr>
                        <a:defRPr sz="1500" b="1">
                          <a:solidFill>
                            <a:srgbClr val="FFFFFF"/>
                          </a:solidFill>
                          <a:latin typeface="Calibri"/>
                        </a:defRPr>
                      </a:pPr>
                      <a:r>
                        <a:t>Denominator</a:t>
                      </a:r>
                    </a:p>
                  </a:txBody>
                  <a:tcPr marL="91440" marR="91440" anchor="ctr">
                    <a:solidFill>
                      <a:srgbClr val="1F3864"/>
                    </a:solidFill>
                  </a:tcPr>
                </a:tc>
                <a:tc>
                  <a:txBody>
                    <a:bodyPr/>
                    <a:lstStyle/>
                    <a:p>
                      <a:pPr>
                        <a:defRPr sz="1500" b="1">
                          <a:solidFill>
                            <a:srgbClr val="FFFFFF"/>
                          </a:solidFill>
                          <a:latin typeface="Calibri"/>
                        </a:defRPr>
                      </a:pPr>
                      <a:r>
                        <a:t>n</a:t>
                      </a:r>
                    </a:p>
                  </a:txBody>
                  <a:tcPr marL="91440" marR="91440" anchor="ctr">
                    <a:solidFill>
                      <a:srgbClr val="1F3864"/>
                    </a:solidFill>
                  </a:tcPr>
                </a:tc>
                <a:tc>
                  <a:txBody>
                    <a:bodyPr/>
                    <a:lstStyle/>
                    <a:p>
                      <a:pPr>
                        <a:defRPr sz="1500" b="1">
                          <a:solidFill>
                            <a:srgbClr val="FFFFFF"/>
                          </a:solidFill>
                          <a:latin typeface="Calibri"/>
                        </a:defRPr>
                      </a:pPr>
                      <a:r>
                        <a:t>Answer</a:t>
                      </a:r>
                    </a:p>
                  </a:txBody>
                  <a:tcPr marL="91440" marR="91440" anchor="ctr">
                    <a:solidFill>
                      <a:srgbClr val="1F3864"/>
                    </a:solidFill>
                  </a:tcPr>
                </a:tc>
                <a:tc>
                  <a:txBody>
                    <a:bodyPr/>
                    <a:lstStyle/>
                    <a:p>
                      <a:pPr>
                        <a:defRPr sz="1500" b="1">
                          <a:solidFill>
                            <a:srgbClr val="FFFFFF"/>
                          </a:solidFill>
                          <a:latin typeface="Calibri"/>
                        </a:defRPr>
                      </a:pPr>
                      <a:r>
                        <a:t>What you are really saying</a:t>
                      </a:r>
                    </a:p>
                  </a:txBody>
                  <a:tcPr marL="91440" marR="91440" anchor="ctr">
                    <a:solidFill>
                      <a:srgbClr val="1F3864"/>
                    </a:solidFill>
                  </a:tcPr>
                </a:tc>
              </a:tr>
              <a:tr h="713232">
                <a:tc>
                  <a:txBody>
                    <a:bodyPr/>
                    <a:lstStyle/>
                    <a:p>
                      <a:pPr>
                        <a:defRPr sz="1700">
                          <a:solidFill>
                            <a:srgbClr val="1A1A1A"/>
                          </a:solidFill>
                          <a:latin typeface="Calibri"/>
                        </a:defRPr>
                      </a:pPr>
                      <a:r>
                        <a:t>All registered</a:t>
                      </a:r>
                    </a:p>
                  </a:txBody>
                  <a:tcPr marL="91440" marR="91440" marT="27432" marB="27432" anchor="ctr">
                    <a:solidFill>
                      <a:srgbClr val="FFF6E0"/>
                    </a:solidFill>
                  </a:tcPr>
                </a:tc>
                <a:tc>
                  <a:txBody>
                    <a:bodyPr/>
                    <a:lstStyle/>
                    <a:p>
                      <a:pPr>
                        <a:defRPr sz="1700">
                          <a:solidFill>
                            <a:srgbClr val="1A1A1A"/>
                          </a:solidFill>
                          <a:latin typeface="Calibri"/>
                        </a:defRPr>
                      </a:pPr>
                      <a:r>
                        <a:t>180</a:t>
                      </a:r>
                    </a:p>
                  </a:txBody>
                  <a:tcPr marL="91440" marR="91440" marT="27432" marB="27432" anchor="ctr">
                    <a:solidFill>
                      <a:srgbClr val="FFF6E0"/>
                    </a:solidFill>
                  </a:tcPr>
                </a:tc>
                <a:tc>
                  <a:txBody>
                    <a:bodyPr/>
                    <a:lstStyle/>
                    <a:p>
                      <a:pPr>
                        <a:defRPr sz="1700" b="1">
                          <a:solidFill>
                            <a:srgbClr val="1F3864"/>
                          </a:solidFill>
                          <a:latin typeface="Calibri"/>
                        </a:defRPr>
                      </a:pPr>
                      <a:r>
                        <a:t>70.0%</a:t>
                      </a:r>
                    </a:p>
                  </a:txBody>
                  <a:tcPr marL="91440" marR="91440" marT="27432" marB="27432" anchor="ctr">
                    <a:solidFill>
                      <a:srgbClr val="FFF6E0"/>
                    </a:solidFill>
                  </a:tcPr>
                </a:tc>
                <a:tc>
                  <a:txBody>
                    <a:bodyPr/>
                    <a:lstStyle/>
                    <a:p>
                      <a:pPr>
                        <a:defRPr sz="1700">
                          <a:solidFill>
                            <a:srgbClr val="1A1A1A"/>
                          </a:solidFill>
                          <a:latin typeface="Calibri"/>
                        </a:defRPr>
                      </a:pPr>
                      <a:r>
                        <a:t>Includes 8 still on treatment</a:t>
                      </a:r>
                    </a:p>
                  </a:txBody>
                  <a:tcPr marL="91440" marR="91440" marT="27432" marB="27432" anchor="ctr">
                    <a:solidFill>
                      <a:srgbClr val="FFF6E0"/>
                    </a:solidFill>
                  </a:tcPr>
                </a:tc>
              </a:tr>
              <a:tr h="713232">
                <a:tc>
                  <a:txBody>
                    <a:bodyPr/>
                    <a:lstStyle/>
                    <a:p>
                      <a:pPr>
                        <a:defRPr sz="1700">
                          <a:solidFill>
                            <a:srgbClr val="1A1A1A"/>
                          </a:solidFill>
                          <a:latin typeface="Calibri"/>
                        </a:defRPr>
                      </a:pPr>
                      <a:r>
                        <a:t>Excluding still on treatment</a:t>
                      </a:r>
                    </a:p>
                  </a:txBody>
                  <a:tcPr marL="91440" marR="91440" marT="27432" marB="27432" anchor="ctr">
                    <a:solidFill>
                      <a:srgbClr val="FFF6E0"/>
                    </a:solidFill>
                  </a:tcPr>
                </a:tc>
                <a:tc>
                  <a:txBody>
                    <a:bodyPr/>
                    <a:lstStyle/>
                    <a:p>
                      <a:pPr>
                        <a:defRPr sz="1700">
                          <a:solidFill>
                            <a:srgbClr val="1A1A1A"/>
                          </a:solidFill>
                          <a:latin typeface="Calibri"/>
                        </a:defRPr>
                      </a:pPr>
                      <a:r>
                        <a:t>172</a:t>
                      </a:r>
                    </a:p>
                  </a:txBody>
                  <a:tcPr marL="91440" marR="91440" marT="27432" marB="27432" anchor="ctr">
                    <a:solidFill>
                      <a:srgbClr val="FFF6E0"/>
                    </a:solidFill>
                  </a:tcPr>
                </a:tc>
                <a:tc>
                  <a:txBody>
                    <a:bodyPr/>
                    <a:lstStyle/>
                    <a:p>
                      <a:pPr>
                        <a:defRPr sz="1700" b="1">
                          <a:solidFill>
                            <a:srgbClr val="1F3864"/>
                          </a:solidFill>
                          <a:latin typeface="Calibri"/>
                        </a:defRPr>
                      </a:pPr>
                      <a:r>
                        <a:t>73.3%</a:t>
                      </a:r>
                    </a:p>
                  </a:txBody>
                  <a:tcPr marL="91440" marR="91440" marT="27432" marB="27432" anchor="ctr">
                    <a:solidFill>
                      <a:srgbClr val="FFF6E0"/>
                    </a:solidFill>
                  </a:tcPr>
                </a:tc>
                <a:tc>
                  <a:txBody>
                    <a:bodyPr/>
                    <a:lstStyle/>
                    <a:p>
                      <a:pPr>
                        <a:defRPr sz="1700">
                          <a:solidFill>
                            <a:srgbClr val="1A1A1A"/>
                          </a:solidFill>
                          <a:latin typeface="Calibri"/>
                        </a:defRPr>
                      </a:pPr>
                      <a:r>
                        <a:t>Still includes 12 transferred out</a:t>
                      </a:r>
                    </a:p>
                  </a:txBody>
                  <a:tcPr marL="91440" marR="91440" marT="27432" marB="27432" anchor="ctr">
                    <a:solidFill>
                      <a:srgbClr val="FFF6E0"/>
                    </a:solidFill>
                  </a:tcPr>
                </a:tc>
              </a:tr>
              <a:tr h="713232">
                <a:tc>
                  <a:txBody>
                    <a:bodyPr/>
                    <a:lstStyle/>
                    <a:p>
                      <a:pPr>
                        <a:defRPr sz="1700">
                          <a:solidFill>
                            <a:srgbClr val="1A1A1A"/>
                          </a:solidFill>
                          <a:latin typeface="Calibri"/>
                        </a:defRPr>
                      </a:pPr>
                      <a:r>
                        <a:t>WHO evaluated cohort</a:t>
                      </a:r>
                    </a:p>
                  </a:txBody>
                  <a:tcPr marL="91440" marR="91440" marT="27432" marB="27432" anchor="ctr">
                    <a:solidFill>
                      <a:srgbClr val="FFF6E0"/>
                    </a:solidFill>
                  </a:tcPr>
                </a:tc>
                <a:tc>
                  <a:txBody>
                    <a:bodyPr/>
                    <a:lstStyle/>
                    <a:p>
                      <a:pPr>
                        <a:defRPr sz="1700">
                          <a:solidFill>
                            <a:srgbClr val="1A1A1A"/>
                          </a:solidFill>
                          <a:latin typeface="Calibri"/>
                        </a:defRPr>
                      </a:pPr>
                      <a:r>
                        <a:t>160</a:t>
                      </a:r>
                    </a:p>
                  </a:txBody>
                  <a:tcPr marL="91440" marR="91440" marT="27432" marB="27432" anchor="ctr">
                    <a:solidFill>
                      <a:srgbClr val="FFF6E0"/>
                    </a:solidFill>
                  </a:tcPr>
                </a:tc>
                <a:tc>
                  <a:txBody>
                    <a:bodyPr/>
                    <a:lstStyle/>
                    <a:p>
                      <a:pPr>
                        <a:defRPr sz="1700" b="1">
                          <a:solidFill>
                            <a:srgbClr val="1F3864"/>
                          </a:solidFill>
                          <a:latin typeface="Calibri"/>
                        </a:defRPr>
                      </a:pPr>
                      <a:r>
                        <a:t>78.8%</a:t>
                      </a:r>
                    </a:p>
                  </a:txBody>
                  <a:tcPr marL="91440" marR="91440" marT="27432" marB="27432" anchor="ctr">
                    <a:solidFill>
                      <a:srgbClr val="FFF6E0"/>
                    </a:solidFill>
                  </a:tcPr>
                </a:tc>
                <a:tc>
                  <a:txBody>
                    <a:bodyPr/>
                    <a:lstStyle/>
                    <a:p>
                      <a:pPr>
                        <a:defRPr sz="1700">
                          <a:solidFill>
                            <a:srgbClr val="1A1A1A"/>
                          </a:solidFill>
                          <a:latin typeface="Calibri"/>
                        </a:defRPr>
                      </a:pPr>
                      <a:r>
                        <a:t>Hides the 12 you lost track of</a:t>
                      </a:r>
                    </a:p>
                  </a:txBody>
                  <a:tcPr marL="91440" marR="91440" marT="27432" marB="27432" anchor="ctr">
                    <a:solidFill>
                      <a:srgbClr val="FFF6E0"/>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103120"/>
            <a:ext cx="9784080" cy="2926080"/>
          </a:xfrm>
          <a:prstGeom prst="rect">
            <a:avLst/>
          </a:prstGeom>
          <a:noFill/>
        </p:spPr>
        <p:txBody>
          <a:bodyPr wrap="square" anchor="ctr" lIns="0" rIns="0" tIns="0" bIns="0">
            <a:spAutoFit/>
          </a:bodyPr>
          <a:lstStyle/>
          <a:p>
            <a:pPr algn="ctr">
              <a:lnSpc>
                <a:spcPct val="115000"/>
              </a:lnSpc>
            </a:pPr>
            <a:r>
              <a:rPr sz="4400" b="1" i="0">
                <a:solidFill>
                  <a:srgbClr val="FFFFFF"/>
                </a:solidFill>
                <a:latin typeface="Calibri"/>
              </a:rPr>
              <a:t>A percentage without its denominator
is not a result. It is a rumour.</a:t>
            </a:r>
          </a:p>
          <a:p>
            <a:pPr algn="ctr">
              <a:lnSpc>
                <a:spcPct val="115000"/>
              </a:lnSpc>
              <a:spcBef>
                <a:spcPts val="2200"/>
              </a:spcBef>
            </a:pPr>
            <a:r>
              <a:rPr sz="2000" b="0" i="1">
                <a:solidFill>
                  <a:srgbClr val="C8D4E4"/>
                </a:solidFill>
                <a:latin typeface="Calibri"/>
              </a:rPr>
              <a:t>Write 126/160 (78.8%). Never 78.8%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RULE 3</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The small-denominator trap</a:t>
            </a:r>
          </a:p>
        </p:txBody>
      </p:sp>
      <p:sp>
        <p:nvSpPr>
          <p:cNvPr id="6" name="TextBox 5"/>
          <p:cNvSpPr txBox="1"/>
          <p:nvPr/>
        </p:nvSpPr>
        <p:spPr>
          <a:xfrm>
            <a:off x="868680" y="1600200"/>
            <a:ext cx="10515600" cy="4754880"/>
          </a:xfrm>
          <a:prstGeom prst="rect">
            <a:avLst/>
          </a:prstGeom>
          <a:noFill/>
        </p:spPr>
        <p:txBody>
          <a:bodyPr wrap="square" anchor="t" lIns="0" rIns="0" tIns="0" bIns="0">
            <a:spAutoFit/>
          </a:bodyPr>
          <a:lstStyle/>
          <a:p>
            <a:pPr algn="l">
              <a:lnSpc>
                <a:spcPct val="128000"/>
              </a:lnSpc>
            </a:pPr>
            <a:r>
              <a:rPr sz="2000" b="0" i="0">
                <a:solidFill>
                  <a:srgbClr val="1A1A1A"/>
                </a:solidFill>
                <a:latin typeface="Calibri"/>
              </a:rPr>
              <a:t>▪   In our data, 13 of 13 HIV-positive patients were treated successfully. That is 100%.</a:t>
            </a:r>
          </a:p>
          <a:p>
            <a:pPr algn="l">
              <a:lnSpc>
                <a:spcPct val="128000"/>
              </a:lnSpc>
              <a:spcBef>
                <a:spcPts val="1500"/>
              </a:spcBef>
            </a:pPr>
            <a:r>
              <a:rPr sz="2000" b="0" i="0">
                <a:solidFill>
                  <a:srgbClr val="1A1A1A"/>
                </a:solidFill>
                <a:latin typeface="Calibri"/>
              </a:rPr>
              <a:t>▪   Would you write that in your paper?</a:t>
            </a:r>
          </a:p>
          <a:p>
            <a:pPr algn="l">
              <a:lnSpc>
                <a:spcPct val="128000"/>
              </a:lnSpc>
              <a:spcBef>
                <a:spcPts val="1500"/>
              </a:spcBef>
            </a:pPr>
            <a:r>
              <a:rPr sz="2000" b="0" i="0">
                <a:solidFill>
                  <a:srgbClr val="1A1A1A"/>
                </a:solidFill>
                <a:latin typeface="Calibri"/>
              </a:rPr>
              <a:t>▪   One more death would make it 92.9%.</a:t>
            </a:r>
          </a:p>
          <a:p>
            <a:pPr algn="l">
              <a:lnSpc>
                <a:spcPct val="128000"/>
              </a:lnSpc>
              <a:spcBef>
                <a:spcPts val="1500"/>
              </a:spcBef>
            </a:pPr>
            <a:r>
              <a:rPr sz="2000" b="0" i="0">
                <a:solidFill>
                  <a:srgbClr val="1A1A1A"/>
                </a:solidFill>
                <a:latin typeface="Calibri"/>
              </a:rPr>
              <a:t>▪   Below n = 20–30, report the counts. Skip the percentage entirely.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2C1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789920" cy="274320"/>
          </a:xfrm>
          <a:prstGeom prst="rect">
            <a:avLst/>
          </a:prstGeom>
          <a:noFill/>
        </p:spPr>
        <p:txBody>
          <a:bodyPr wrap="square" anchor="t" lIns="0" rIns="0" tIns="0" bIns="0">
            <a:spAutoFit/>
          </a:bodyPr>
          <a:lstStyle/>
          <a:p>
            <a:pPr algn="l">
              <a:lnSpc>
                <a:spcPct val="100000"/>
              </a:lnSpc>
            </a:pPr>
            <a:r>
              <a:rPr sz="1050" b="1" i="0">
                <a:solidFill>
                  <a:srgbClr val="F2C14E"/>
                </a:solidFill>
                <a:latin typeface="Calibri"/>
              </a:rPr>
              <a:t>WHERE THIS IS GOING</a:t>
            </a:r>
          </a:p>
        </p:txBody>
      </p:sp>
      <p:sp>
        <p:nvSpPr>
          <p:cNvPr id="5" name="TextBox 4"/>
          <p:cNvSpPr txBox="1"/>
          <p:nvPr/>
        </p:nvSpPr>
        <p:spPr>
          <a:xfrm>
            <a:off x="685800" y="475488"/>
            <a:ext cx="10789920" cy="548640"/>
          </a:xfrm>
          <a:prstGeom prst="rect">
            <a:avLst/>
          </a:prstGeom>
          <a:noFill/>
        </p:spPr>
        <p:txBody>
          <a:bodyPr wrap="square" anchor="t" lIns="0" rIns="0" tIns="0" bIns="0">
            <a:spAutoFit/>
          </a:bodyPr>
          <a:lstStyle/>
          <a:p>
            <a:pPr algn="l">
              <a:lnSpc>
                <a:spcPct val="100000"/>
              </a:lnSpc>
            </a:pPr>
            <a:r>
              <a:rPr sz="2700" b="1" i="0">
                <a:solidFill>
                  <a:srgbClr val="FFFFFF"/>
                </a:solidFill>
                <a:latin typeface="Calibri"/>
              </a:rPr>
              <a:t>What happens next</a:t>
            </a:r>
          </a:p>
        </p:txBody>
      </p:sp>
      <p:sp>
        <p:nvSpPr>
          <p:cNvPr id="6" name="TextBox 5"/>
          <p:cNvSpPr txBox="1"/>
          <p:nvPr/>
        </p:nvSpPr>
        <p:spPr>
          <a:xfrm>
            <a:off x="868680" y="1600200"/>
            <a:ext cx="10515600" cy="4754880"/>
          </a:xfrm>
          <a:prstGeom prst="rect">
            <a:avLst/>
          </a:prstGeom>
          <a:noFill/>
        </p:spPr>
        <p:txBody>
          <a:bodyPr wrap="square" anchor="t" lIns="0" rIns="0" tIns="0" bIns="0">
            <a:spAutoFit/>
          </a:bodyPr>
          <a:lstStyle/>
          <a:p>
            <a:pPr algn="l">
              <a:lnSpc>
                <a:spcPct val="128000"/>
              </a:lnSpc>
            </a:pPr>
            <a:r>
              <a:rPr sz="1900" b="0" i="0">
                <a:solidFill>
                  <a:srgbClr val="1A1A1A"/>
                </a:solidFill>
                <a:latin typeface="Calibri"/>
              </a:rPr>
              <a:t>▪   11:00 — Group work: the Denominator Hunt, then your own analysis plan</a:t>
            </a:r>
          </a:p>
          <a:p>
            <a:pPr algn="l">
              <a:lnSpc>
                <a:spcPct val="128000"/>
              </a:lnSpc>
              <a:spcBef>
                <a:spcPts val="1500"/>
              </a:spcBef>
            </a:pPr>
            <a:r>
              <a:rPr sz="1900" b="0" i="0">
                <a:solidFill>
                  <a:srgbClr val="1A1A1A"/>
                </a:solidFill>
                <a:latin typeface="Calibri"/>
              </a:rPr>
              <a:t>▪   12:00 — Lecture 5: using graphs and tables</a:t>
            </a:r>
          </a:p>
          <a:p>
            <a:pPr algn="l">
              <a:lnSpc>
                <a:spcPct val="128000"/>
              </a:lnSpc>
              <a:spcBef>
                <a:spcPts val="1500"/>
              </a:spcBef>
            </a:pPr>
            <a:r>
              <a:rPr sz="1900" b="0" i="0">
                <a:solidFill>
                  <a:srgbClr val="1A1A1A"/>
                </a:solidFill>
                <a:latin typeface="Calibri"/>
              </a:rPr>
              <a:t>▪   13:30 — Group work: build your tables and charts for real</a:t>
            </a:r>
          </a:p>
          <a:p>
            <a:pPr algn="l">
              <a:lnSpc>
                <a:spcPct val="128000"/>
              </a:lnSpc>
              <a:spcBef>
                <a:spcPts val="1500"/>
              </a:spcBef>
            </a:pPr>
            <a:r>
              <a:rPr sz="1900" b="0" i="0">
                <a:solidFill>
                  <a:srgbClr val="1A1A1A"/>
                </a:solidFill>
                <a:latin typeface="Calibri"/>
              </a:rPr>
              <a:t>▪   Tomorrow 09:00 — recap and interpretation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103120"/>
            <a:ext cx="9784080" cy="2926080"/>
          </a:xfrm>
          <a:prstGeom prst="rect">
            <a:avLst/>
          </a:prstGeom>
          <a:noFill/>
        </p:spPr>
        <p:txBody>
          <a:bodyPr wrap="square" anchor="ctr" lIns="0" rIns="0" tIns="0" bIns="0">
            <a:spAutoFit/>
          </a:bodyPr>
          <a:lstStyle/>
          <a:p>
            <a:pPr algn="ctr">
              <a:lnSpc>
                <a:spcPct val="115000"/>
              </a:lnSpc>
            </a:pPr>
            <a:r>
              <a:rPr sz="3800" b="1" i="0">
                <a:solidFill>
                  <a:srgbClr val="FFFFFF"/>
                </a:solidFill>
                <a:latin typeface="Calibri"/>
              </a:rPr>
              <a:t>Know your variable.
Choose the right average.
State your denominator.</a:t>
            </a:r>
          </a:p>
          <a:p>
            <a:pPr algn="ctr">
              <a:lnSpc>
                <a:spcPct val="115000"/>
              </a:lnSpc>
              <a:spcBef>
                <a:spcPts val="2200"/>
              </a:spcBef>
            </a:pPr>
            <a:r>
              <a:rPr sz="2000" b="0" i="1">
                <a:solidFill>
                  <a:srgbClr val="444444"/>
                </a:solidFill>
                <a:latin typeface="Calibri"/>
              </a:rPr>
              <a:t>That is data analysis. Everything else is detail.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