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60 minutes. Structure:</a:t>
            </a:r>
          </a:p>
          <a:p>
            <a:r>
              <a:t>  09:00-09:15  Quiz (Activity 10) - 12 questions, teams, loud</a:t>
            </a:r>
          </a:p>
          <a:p>
            <a:r>
              <a:t>  09:15-09:25  Fix whatever the quiz showed they got wrong</a:t>
            </a:r>
          </a:p>
          <a:p>
            <a:r>
              <a:t>  09:25-09:50  Interpretation: the four questions, plus Say It In Plain Words</a:t>
            </a:r>
          </a:p>
          <a:p>
            <a:r>
              <a:t>  09:50-10:00  Close and hand over to the communication session</a:t>
            </a:r>
          </a:p>
          <a:p/>
          <a:p>
            <a:r>
              <a:t>DO NOT re-deliver Lecture 4. The quiz tells you what to spend time on. Be ruthless about skipping what they already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all 12 questions if time allows; if not use 1, 3, 5, 7, 9, 12.</a:t>
            </a:r>
          </a:p>
          <a:p/>
          <a:p>
            <a:r>
              <a:t>Keep score visibly and make it loud. This is the wake-up for the whole day.</a:t>
            </a:r>
          </a:p>
          <a:p/>
          <a:p>
            <a:r>
              <a:t>Write down which questions the room got WRONG - that is your agenda for the next ten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Thirty seconds on this slide. If the quiz showed a gap in one of these three, spend five minutes there now. Otherwise move straight on to interpretation, which is the real content of this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'What is the difference between these two columns?'</a:t>
            </a:r>
          </a:p>
          <a:p/>
          <a:p>
            <a:r>
              <a:t>The answer you are steering towards: the left column reports NUMBERS. The right column makes an ARGUMENT. Operational research exists to change practice, and numbers alone have never changed anybody's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four questions are on Factsheet 7. Make them write them at the top of their results section.</a:t>
            </a:r>
          </a:p>
          <a:p/>
          <a:p>
            <a:r>
              <a:t>Question 4 is the one that makes it OPERATIONAL research rather than just research. If they cannot answer it, the finding may not belong in the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what is wrong with it. Collect answers.</a:t>
            </a:r>
          </a:p>
          <a:p/>
          <a:p>
            <a:r>
              <a:t>Significant compared to what? By how much? Does the size of the difference matter operationally? A statistically significant 0.3 kg weight difference changes nothing. A non-significant 9-point gap in treatment success in a small district might matter enormously.</a:t>
            </a:r>
          </a:p>
          <a:p/>
          <a:p>
            <a:r>
              <a:t>ALWAYS interpret the SIZE of the difference, not only the p-value.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 = 0.23 example is real - it is from the practice dataset. Women 50/68 (73.5%), men 76/92 (82.6%), chi-square p = 0.23.</a:t>
            </a:r>
          </a:p>
          <a:p/>
          <a:p>
            <a:r>
              <a:t>Note what the good version does: gives the numbers, gives the direction, gives the size, AND admits the uncertainty. All in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Trap 3 is the one to dwell on. In our practice data 59/180 (32.8%) have unknown HIV status. You cannot say anything confident about HIV and outcomes.</a:t>
            </a:r>
          </a:p>
          <a:p/>
          <a:p>
            <a:r>
              <a:t>But that 32.8% IS a finding, and an actionable one: a third of TB patients were never tested or the result was never recorded. That is a programme failure worth a paragraph in the discussion and probably a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A6_Say-It-In-Plain-Words.</a:t>
            </a:r>
          </a:p>
          <a:p/>
          <a:p>
            <a:r>
              <a:t>Enforce the banned words ruthlessly. If a team uses one, they rewrite.</a:t>
            </a:r>
          </a:p>
          <a:p/>
          <a:p>
            <a:r>
              <a:t>Keep the finished flipcharts on the wall - they are the first draft of these participants' discussion sections, and you will point at them again this afternoon and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this slide out. Then tell them to fill it in for their own main result before they leave the room today - it becomes the backbone of their discussion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last point explicitly. Participants often feel the recap session is 'just revision'. It is not - it is where they draft the hardest part of their paper. Tell them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here and hand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371600" cy="6350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C14E"/>
                </a:solidFill>
                <a:latin typeface="Calibri"/>
              </a:rPr>
              <a:t>DAY 3, 09:00–10:00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FFFFF"/>
                </a:solidFill>
                <a:latin typeface="Calibri"/>
              </a:rPr>
              <a:t>Recap: data analysis and
results 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1">
                <a:solidFill>
                  <a:srgbClr val="C8D4E4"/>
                </a:solidFill>
                <a:latin typeface="Calibri"/>
              </a:rPr>
              <a:t>SORT IT Module 3  •  Data analysis and interpretation of results  •  Timor-Leste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3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37A00"/>
                </a:solidFill>
                <a:latin typeface="Calibri"/>
              </a:rPr>
              <a:t>ACTIVITY 10   •   15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F3864"/>
                </a:solidFill>
                <a:latin typeface="Calibri"/>
              </a:rPr>
              <a:t>The Recap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1A1A1A"/>
                </a:solidFill>
                <a:latin typeface="Calibri"/>
              </a:rPr>
              <a:t>1.   Teams of four. Paper and a marker each</a:t>
            </a:r>
          </a:p>
          <a:p>
            <a:pPr algn="l">
              <a:lnSpc>
                <a:spcPct val="125000"/>
              </a:lnSpc>
              <a:spcBef>
                <a:spcPts val="1600"/>
              </a:spcBef>
            </a:pPr>
            <a:r>
              <a:rPr sz="1900" b="0" i="0">
                <a:solidFill>
                  <a:srgbClr val="1A1A1A"/>
                </a:solidFill>
                <a:latin typeface="Calibri"/>
              </a:rPr>
              <a:t>2.   I read the question. You have 30 seconds</a:t>
            </a:r>
          </a:p>
          <a:p>
            <a:pPr algn="l">
              <a:lnSpc>
                <a:spcPct val="125000"/>
              </a:lnSpc>
              <a:spcBef>
                <a:spcPts val="1600"/>
              </a:spcBef>
            </a:pPr>
            <a:r>
              <a:rPr sz="1900" b="0" i="0">
                <a:solidFill>
                  <a:srgbClr val="1A1A1A"/>
                </a:solidFill>
                <a:latin typeface="Calibri"/>
              </a:rPr>
              <a:t>3.   Hold up your answer on three</a:t>
            </a:r>
          </a:p>
          <a:p>
            <a:pPr algn="l">
              <a:lnSpc>
                <a:spcPct val="125000"/>
              </a:lnSpc>
              <a:spcBef>
                <a:spcPts val="1600"/>
              </a:spcBef>
            </a:pPr>
            <a:r>
              <a:rPr sz="1900" b="0" i="0">
                <a:solidFill>
                  <a:srgbClr val="1A1A1A"/>
                </a:solidFill>
                <a:latin typeface="Calibri"/>
              </a:rPr>
              <a:t>4.   Scores on the flipchart. There is a prize.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2C14E"/>
                </a:solidFill>
                <a:latin typeface="Calibri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Yesterday, in three 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i="0">
                <a:solidFill>
                  <a:srgbClr val="1A1A1A"/>
                </a:solidFill>
                <a:latin typeface="Calibri"/>
              </a:rPr>
              <a:t>▪   Know your variable — before you calculate anything</a:t>
            </a:r>
          </a:p>
          <a:p>
            <a:pPr algn="l">
              <a:lnSpc>
                <a:spcPct val="128000"/>
              </a:lnSpc>
              <a:spcBef>
                <a:spcPts val="1500"/>
              </a:spcBef>
            </a:pPr>
            <a:r>
              <a:rPr sz="2300" b="0" i="0">
                <a:solidFill>
                  <a:srgbClr val="1A1A1A"/>
                </a:solidFill>
                <a:latin typeface="Calibri"/>
              </a:rPr>
              <a:t>▪   Choose the right average — mean lies when data are skewed</a:t>
            </a:r>
          </a:p>
          <a:p>
            <a:pPr algn="l">
              <a:lnSpc>
                <a:spcPct val="128000"/>
              </a:lnSpc>
              <a:spcBef>
                <a:spcPts val="1500"/>
              </a:spcBef>
            </a:pPr>
            <a:r>
              <a:rPr sz="2300" b="0" i="0">
                <a:solidFill>
                  <a:srgbClr val="1A1A1A"/>
                </a:solidFill>
                <a:latin typeface="Calibri"/>
              </a:rPr>
              <a:t>▪   State your denominator — every percentage, every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8E4DD"/>
                </a:solidFill>
                <a:latin typeface="Calibri"/>
              </a:rPr>
              <a:t>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From numbers to meaning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1">
                <a:solidFill>
                  <a:srgbClr val="D6EFEA"/>
                </a:solidFill>
                <a:latin typeface="Calibri"/>
              </a:rPr>
              <a:t>Calculating is the easy part. Interpretation is the job.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2C14E"/>
                </a:solidFill>
                <a:latin typeface="Calibri"/>
              </a:rPr>
              <a:t>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Describing is not interpreting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5138928" cy="47548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45920"/>
            <a:ext cx="4773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Describing — not enough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29968"/>
            <a:ext cx="5138928" cy="3794760"/>
          </a:xfrm>
          <a:prstGeom prst="rect">
            <a:avLst/>
          </a:prstGeom>
          <a:solidFill>
            <a:srgbClr val="FB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240280"/>
            <a:ext cx="4636008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▪   “Treatment success was 78.8%.”</a:t>
            </a:r>
          </a:p>
          <a:p>
            <a:pPr algn="l">
              <a:lnSpc>
                <a:spcPct val="125000"/>
              </a:lnSpc>
              <a:spcBef>
                <a:spcPts val="1300"/>
              </a:spcBef>
            </a:pPr>
            <a:r>
              <a:rPr sz="1600" b="0" i="0">
                <a:solidFill>
                  <a:srgbClr val="1A1A1A"/>
                </a:solidFill>
                <a:latin typeface="Calibri"/>
              </a:rPr>
              <a:t>▪   “8.9% were lost to follow-up.”</a:t>
            </a:r>
          </a:p>
          <a:p>
            <a:pPr algn="l">
              <a:lnSpc>
                <a:spcPct val="125000"/>
              </a:lnSpc>
              <a:spcBef>
                <a:spcPts val="1300"/>
              </a:spcBef>
            </a:pPr>
            <a:r>
              <a:rPr sz="1600" b="0" i="0">
                <a:solidFill>
                  <a:srgbClr val="1A1A1A"/>
                </a:solidFill>
                <a:latin typeface="Calibri"/>
              </a:rPr>
              <a:t>▪   “The result was significant (p &lt; 0.05).”</a:t>
            </a:r>
          </a:p>
          <a:p>
            <a:pPr algn="l">
              <a:lnSpc>
                <a:spcPct val="125000"/>
              </a:lnSpc>
              <a:spcBef>
                <a:spcPts val="1300"/>
              </a:spcBef>
            </a:pPr>
            <a:r>
              <a:rPr sz="1600" b="0" i="0">
                <a:solidFill>
                  <a:srgbClr val="1A1A1A"/>
                </a:solidFill>
                <a:latin typeface="Calibri"/>
              </a:rPr>
              <a:t>▪   Your reader can read the table themselves.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554480"/>
            <a:ext cx="5138928" cy="475488"/>
          </a:xfrm>
          <a:prstGeom prst="rect">
            <a:avLst/>
          </a:prstGeom>
          <a:solidFill>
            <a:srgbClr val="0F7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645920"/>
            <a:ext cx="4773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Interpreting — what we want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029968"/>
            <a:ext cx="5138928" cy="3794760"/>
          </a:xfrm>
          <a:prstGeom prst="rect">
            <a:avLst/>
          </a:prstGeom>
          <a:solidFill>
            <a:srgbClr val="E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2240280"/>
            <a:ext cx="4636008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▪   Compares it to something</a:t>
            </a:r>
          </a:p>
          <a:p>
            <a:pPr algn="l">
              <a:lnSpc>
                <a:spcPct val="125000"/>
              </a:lnSpc>
              <a:spcBef>
                <a:spcPts val="1300"/>
              </a:spcBef>
            </a:pPr>
            <a:r>
              <a:rPr sz="1600" b="0" i="0">
                <a:solidFill>
                  <a:srgbClr val="1A1A1A"/>
                </a:solidFill>
                <a:latin typeface="Calibri"/>
              </a:rPr>
              <a:t>▪   Explains what might be causing it</a:t>
            </a:r>
          </a:p>
          <a:p>
            <a:pPr algn="l">
              <a:lnSpc>
                <a:spcPct val="125000"/>
              </a:lnSpc>
              <a:spcBef>
                <a:spcPts val="1300"/>
              </a:spcBef>
            </a:pPr>
            <a:r>
              <a:rPr sz="1600" b="0" i="0">
                <a:solidFill>
                  <a:srgbClr val="1A1A1A"/>
                </a:solidFill>
                <a:latin typeface="Calibri"/>
              </a:rPr>
              <a:t>▪   Admits what could be wrong with it</a:t>
            </a:r>
          </a:p>
          <a:p>
            <a:pPr algn="l">
              <a:lnSpc>
                <a:spcPct val="125000"/>
              </a:lnSpc>
              <a:spcBef>
                <a:spcPts val="1300"/>
              </a:spcBef>
            </a:pPr>
            <a:r>
              <a:rPr sz="1600" b="0" i="0">
                <a:solidFill>
                  <a:srgbClr val="1A1A1A"/>
                </a:solidFill>
                <a:latin typeface="Calibri"/>
              </a:rPr>
              <a:t>▪   Says what should change, and who should do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2C14E"/>
                </a:solidFill>
                <a:latin typeface="Calibri"/>
              </a:rPr>
              <a:t>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The four questions that turn a number into a 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00" b="0" i="0">
                <a:solidFill>
                  <a:srgbClr val="1A1A1A"/>
                </a:solidFill>
                <a:latin typeface="Calibri"/>
              </a:rPr>
              <a:t>▪   So what? — why should a busy programme manager care?</a:t>
            </a:r>
          </a:p>
          <a:p>
            <a:pPr algn="l">
              <a:lnSpc>
                <a:spcPct val="128000"/>
              </a:lnSpc>
              <a:spcBef>
                <a:spcPts val="1500"/>
              </a:spcBef>
            </a:pPr>
            <a:r>
              <a:rPr sz="2100" b="0" i="0">
                <a:solidFill>
                  <a:srgbClr val="1A1A1A"/>
                </a:solidFill>
                <a:latin typeface="Calibri"/>
              </a:rPr>
              <a:t>▪   Compared to what? — the target, last year, another district, the literature</a:t>
            </a:r>
          </a:p>
          <a:p>
            <a:pPr algn="l">
              <a:lnSpc>
                <a:spcPct val="128000"/>
              </a:lnSpc>
              <a:spcBef>
                <a:spcPts val="1500"/>
              </a:spcBef>
            </a:pPr>
            <a:r>
              <a:rPr sz="2100" b="0" i="0">
                <a:solidFill>
                  <a:srgbClr val="1A1A1A"/>
                </a:solidFill>
                <a:latin typeface="Calibri"/>
              </a:rPr>
              <a:t>▪   Could it be wrong? — small denominator, missing data, bias, chance</a:t>
            </a:r>
          </a:p>
          <a:p>
            <a:pPr algn="l">
              <a:lnSpc>
                <a:spcPct val="128000"/>
              </a:lnSpc>
              <a:spcBef>
                <a:spcPts val="1500"/>
              </a:spcBef>
            </a:pPr>
            <a:r>
              <a:rPr sz="2100" b="0" i="0">
                <a:solidFill>
                  <a:srgbClr val="1A1A1A"/>
                </a:solidFill>
                <a:latin typeface="Calibri"/>
              </a:rPr>
              <a:t>▪   What changes on Monday? — name the action and name who takes 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103120"/>
            <a:ext cx="978408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“The results were significant.”</a:t>
            </a:r>
          </a:p>
          <a:p>
            <a:pPr algn="ctr">
              <a:lnSpc>
                <a:spcPct val="115000"/>
              </a:lnSpc>
              <a:spcBef>
                <a:spcPts val="2200"/>
              </a:spcBef>
            </a:pPr>
            <a:r>
              <a:rPr sz="2000" b="0" i="1">
                <a:solidFill>
                  <a:srgbClr val="444444"/>
                </a:solidFill>
                <a:latin typeface="Calibri"/>
              </a:rPr>
              <a:t>This sentence tells your reader nothing at 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2C14E"/>
                </a:solidFill>
                <a:latin typeface="Calibri"/>
              </a:rPr>
              <a:t>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Retire these phrases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171700"/>
          <a:ext cx="108356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0692"/>
                <a:gridCol w="7584948"/>
              </a:tblGrid>
              <a:tr h="71323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Instead of…</a:t>
                      </a:r>
                    </a:p>
                  </a:txBody>
                  <a:tcPr marL="91440" marR="9144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Write…</a:t>
                      </a:r>
                    </a:p>
                  </a:txBody>
                  <a:tcPr marL="91440" marR="91440" anchor="ctr">
                    <a:solidFill>
                      <a:srgbClr val="1F386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“The results were significant.”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“Success was 9 points lower in women (73.5% vs 82.6%, p = 0.23) — large enough to matter, too small a sample to be sure.”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“More research is needed.”</a:t>
                      </a:r>
                    </a:p>
                  </a:txBody>
                  <a:tcPr marL="91440" marR="91440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“Whether decentralised drug pick-up reduces these losses should be tested before national scale-up.”</a:t>
                      </a:r>
                    </a:p>
                  </a:txBody>
                  <a:tcPr marL="91440" marR="91440" marT="27432" marB="27432" anchor="ctr">
                    <a:solidFill>
                      <a:srgbClr val="EDF2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“The data showed…”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“We found…”   (data do not show things — you found them)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“There was a correlation.”</a:t>
                      </a:r>
                    </a:p>
                  </a:txBody>
                  <a:tcPr marL="91440" marR="91440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“X was associated with Y.”   (keep ‘caused’ for experiments)</a:t>
                      </a:r>
                    </a:p>
                  </a:txBody>
                  <a:tcPr marL="91440" marR="91440" marT="27432" marB="27432"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2C14E"/>
                </a:solidFill>
                <a:latin typeface="Calibri"/>
              </a:rPr>
              <a:t>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Three interpretation traps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i="0">
                <a:solidFill>
                  <a:srgbClr val="1A1A1A"/>
                </a:solidFill>
                <a:latin typeface="Calibri"/>
              </a:rPr>
              <a:t>▪   Confusing statistical and operational importance — significant can be trivial, and non-significant can be vital</a:t>
            </a:r>
          </a:p>
          <a:p>
            <a:pPr algn="l">
              <a:lnSpc>
                <a:spcPct val="128000"/>
              </a:lnSpc>
              <a:spcBef>
                <a:spcPts val="1500"/>
              </a:spcBef>
            </a:pPr>
            <a:r>
              <a:rPr sz="1900" b="0" i="0">
                <a:solidFill>
                  <a:srgbClr val="1A1A1A"/>
                </a:solidFill>
                <a:latin typeface="Calibri"/>
              </a:rPr>
              <a:t>▪   Claiming cause from association — use ‘was associated with’</a:t>
            </a:r>
          </a:p>
          <a:p>
            <a:pPr algn="l">
              <a:lnSpc>
                <a:spcPct val="128000"/>
              </a:lnSpc>
              <a:spcBef>
                <a:spcPts val="1500"/>
              </a:spcBef>
            </a:pPr>
            <a:r>
              <a:rPr sz="1900" b="0" i="0">
                <a:solidFill>
                  <a:srgbClr val="1A1A1A"/>
                </a:solidFill>
                <a:latin typeface="Calibri"/>
              </a:rPr>
              <a:t>▪   Interpreting what you never measured — if a third of your HIV statuses are unknown, the missing data are your finding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3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37A00"/>
                </a:solidFill>
                <a:latin typeface="Calibri"/>
              </a:rPr>
              <a:t>ACTIVITY 6   •   35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F3864"/>
                </a:solidFill>
                <a:latin typeface="Calibri"/>
              </a:rPr>
              <a:t>Say It In Plain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1A1A1A"/>
                </a:solidFill>
                <a:latin typeface="Calibri"/>
              </a:rPr>
              <a:t>1.   Your team gets one result from the practice data</a:t>
            </a:r>
          </a:p>
          <a:p>
            <a:pPr algn="l">
              <a:lnSpc>
                <a:spcPct val="125000"/>
              </a:lnSpc>
              <a:spcBef>
                <a:spcPts val="1600"/>
              </a:spcBef>
            </a:pPr>
            <a:r>
              <a:rPr sz="1900" b="0" i="0">
                <a:solidFill>
                  <a:srgbClr val="1A1A1A"/>
                </a:solidFill>
                <a:latin typeface="Calibri"/>
              </a:rPr>
              <a:t>2.   Leg 1: explain it in ONE sentence to a District Health Officer</a:t>
            </a:r>
          </a:p>
          <a:p>
            <a:pPr algn="l">
              <a:lnSpc>
                <a:spcPct val="125000"/>
              </a:lnSpc>
              <a:spcBef>
                <a:spcPts val="1600"/>
              </a:spcBef>
            </a:pPr>
            <a:r>
              <a:rPr sz="1900" b="0" i="0">
                <a:solidFill>
                  <a:srgbClr val="1A1A1A"/>
                </a:solidFill>
                <a:latin typeface="Calibri"/>
              </a:rPr>
              <a:t>3.   Leg 2: pass it on — next team adds what should change</a:t>
            </a:r>
          </a:p>
          <a:p>
            <a:pPr algn="l">
              <a:lnSpc>
                <a:spcPct val="125000"/>
              </a:lnSpc>
              <a:spcBef>
                <a:spcPts val="1600"/>
              </a:spcBef>
            </a:pPr>
            <a:r>
              <a:rPr sz="1900" b="0" i="0">
                <a:solidFill>
                  <a:srgbClr val="1A1A1A"/>
                </a:solidFill>
                <a:latin typeface="Calibri"/>
              </a:rPr>
              <a:t>4.   Leg 3: pass again — third team says why it might be wrong</a:t>
            </a:r>
          </a:p>
          <a:p>
            <a:pPr algn="l">
              <a:lnSpc>
                <a:spcPct val="125000"/>
              </a:lnSpc>
              <a:spcBef>
                <a:spcPts val="1600"/>
              </a:spcBef>
            </a:pPr>
            <a:r>
              <a:rPr sz="1900" b="0" i="0">
                <a:solidFill>
                  <a:srgbClr val="1A1A1A"/>
                </a:solidFill>
                <a:latin typeface="Calibri"/>
              </a:rPr>
              <a:t>5.   Banned words: significant, correlation, ‘the data show’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103120"/>
            <a:ext cx="978408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“Among [who, N] in [where, when] we found [result].
This is [higher/lower] than [comparison].
A likely explanation is [reason], although [limitation].
This suggests [who] should [do what].”</a:t>
            </a:r>
          </a:p>
          <a:p>
            <a:pPr algn="ctr">
              <a:lnSpc>
                <a:spcPct val="115000"/>
              </a:lnSpc>
              <a:spcBef>
                <a:spcPts val="2200"/>
              </a:spcBef>
            </a:pPr>
            <a:r>
              <a:rPr sz="2000" b="0" i="1">
                <a:solidFill>
                  <a:srgbClr val="444444"/>
                </a:solidFill>
                <a:latin typeface="Calibri"/>
              </a:rPr>
              <a:t>The interpretation sentence. Fill it in for every main result.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2C14E"/>
                </a:solidFill>
                <a:latin typeface="Calibri"/>
              </a:rPr>
              <a:t>DAY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Where this goes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i="0">
                <a:solidFill>
                  <a:srgbClr val="1A1A1A"/>
                </a:solidFill>
                <a:latin typeface="Calibri"/>
              </a:rPr>
              <a:t>▪   10:30 — Communicating your results to different audiences</a:t>
            </a:r>
          </a:p>
          <a:p>
            <a:pPr algn="l">
              <a:lnSpc>
                <a:spcPct val="128000"/>
              </a:lnSpc>
              <a:spcBef>
                <a:spcPts val="1500"/>
              </a:spcBef>
            </a:pPr>
            <a:r>
              <a:rPr sz="1900" b="0" i="0">
                <a:solidFill>
                  <a:srgbClr val="1A1A1A"/>
                </a:solidFill>
                <a:latin typeface="Calibri"/>
              </a:rPr>
              <a:t>▪   11:00 — Lecture 6: structuring your written report</a:t>
            </a:r>
          </a:p>
          <a:p>
            <a:pPr algn="l">
              <a:lnSpc>
                <a:spcPct val="128000"/>
              </a:lnSpc>
              <a:spcBef>
                <a:spcPts val="1500"/>
              </a:spcBef>
            </a:pPr>
            <a:r>
              <a:rPr sz="1900" b="0" i="0">
                <a:solidFill>
                  <a:srgbClr val="1A1A1A"/>
                </a:solidFill>
                <a:latin typeface="Calibri"/>
              </a:rPr>
              <a:t>▪   13:30 — Lecture 7: structuring your oral presentation</a:t>
            </a:r>
          </a:p>
          <a:p>
            <a:pPr algn="l">
              <a:lnSpc>
                <a:spcPct val="128000"/>
              </a:lnSpc>
              <a:spcBef>
                <a:spcPts val="1500"/>
              </a:spcBef>
            </a:pPr>
            <a:r>
              <a:rPr sz="1900" b="0" i="0">
                <a:solidFill>
                  <a:srgbClr val="1A1A1A"/>
                </a:solidFill>
                <a:latin typeface="Calibri"/>
              </a:rPr>
              <a:t>▪   Everything you wrote this morning is the first draft of your discussion section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103120"/>
            <a:ext cx="978408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Describing a number is not interpreting it.
Your reader can read the table themselves.</a:t>
            </a:r>
          </a:p>
          <a:p>
            <a:pPr algn="ctr">
              <a:lnSpc>
                <a:spcPct val="115000"/>
              </a:lnSpc>
              <a:spcBef>
                <a:spcPts val="2200"/>
              </a:spcBef>
            </a:pPr>
            <a:r>
              <a:rPr sz="2000" b="0" i="1">
                <a:solidFill>
                  <a:srgbClr val="C8D4E4"/>
                </a:solidFill>
                <a:latin typeface="Calibri"/>
              </a:rPr>
              <a:t>Say what it means. Say what should change. Say who should do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